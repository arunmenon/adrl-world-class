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9c776a4ee8c47d9" /><Relationship Type="http://schemas.openxmlformats.org/officeDocument/2006/relationships/extended-properties" Target="/docProps/app.xml" Id="R9aec97bb22a043de" /><Relationship Type="http://schemas.openxmlformats.org/officeDocument/2006/relationships/officeDocument" Target="/ppt/presentation.xml" Id="R498fe6630281468f" /></Relationships>
</file>

<file path=ppt/presentation.xml><?xml version="1.0" encoding="utf-8"?>
<p:presentation xmlns:p="http://schemas.openxmlformats.org/presentationml/2006/main">
  <p:sldMasterIdLst>
    <p:sldMasterId xmlns:r="http://schemas.openxmlformats.org/officeDocument/2006/relationships" id="2147483648" r:id="Rfe059c33432d4ccc"/>
  </p:sldMasterIdLst>
  <p:notesMasterIdLst>
    <p:notesMasterId xmlns:r="http://schemas.openxmlformats.org/officeDocument/2006/relationships" r:id="Ra2355e09e9704af8"/>
  </p:notesMasterIdLst>
  <p:sldIdLst>
    <p:sldId xmlns:r="http://schemas.openxmlformats.org/officeDocument/2006/relationships" id="256" r:id="R715d82bb32cf432f"/>
    <p:sldId xmlns:r="http://schemas.openxmlformats.org/officeDocument/2006/relationships" id="257" r:id="Rb11b2ee6f71442ca"/>
    <p:sldId xmlns:r="http://schemas.openxmlformats.org/officeDocument/2006/relationships" id="258" r:id="R07146756cb614467"/>
    <p:sldId xmlns:r="http://schemas.openxmlformats.org/officeDocument/2006/relationships" id="259" r:id="R8679729ffbd74016"/>
    <p:sldId xmlns:r="http://schemas.openxmlformats.org/officeDocument/2006/relationships" id="260" r:id="Rf64d8a0a919744f5"/>
    <p:sldId xmlns:r="http://schemas.openxmlformats.org/officeDocument/2006/relationships" id="261" r:id="R0348db7270b94b05"/>
    <p:sldId xmlns:r="http://schemas.openxmlformats.org/officeDocument/2006/relationships" id="262" r:id="R16204c5c87364f3a"/>
    <p:sldId xmlns:r="http://schemas.openxmlformats.org/officeDocument/2006/relationships" id="263" r:id="Rcef1f4100f3e4241"/>
    <p:sldId xmlns:r="http://schemas.openxmlformats.org/officeDocument/2006/relationships" id="264" r:id="R04089a6e96514cec"/>
    <p:sldId xmlns:r="http://schemas.openxmlformats.org/officeDocument/2006/relationships" id="265" r:id="R4bf4694c0cb847a2"/>
    <p:sldId xmlns:r="http://schemas.openxmlformats.org/officeDocument/2006/relationships" id="266" r:id="R5bcb15eb9dac49d2"/>
    <p:sldId xmlns:r="http://schemas.openxmlformats.org/officeDocument/2006/relationships" id="267" r:id="R97c2bc38a2ec48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d35cbc3235499a" /><Relationship Type="http://schemas.openxmlformats.org/officeDocument/2006/relationships/slideMaster" Target="/ppt/slideMasters/slideMaster1.xml" Id="Rfe059c33432d4ccc" /><Relationship Type="http://schemas.openxmlformats.org/officeDocument/2006/relationships/notesMaster" Target="/ppt/notesMasters/notesMaster1.xml" Id="Ra2355e09e9704af8" /><Relationship Type="http://schemas.openxmlformats.org/officeDocument/2006/relationships/presProps" Target="/ppt/presProps.xml" Id="R1e5c3a2b407a4475" /><Relationship Type="http://schemas.openxmlformats.org/officeDocument/2006/relationships/tableStyles" Target="/ppt/tableStyles.xml" Id="R572c78be809b4085" /><Relationship Type="http://schemas.openxmlformats.org/officeDocument/2006/relationships/slide" Target="/ppt/slides/slide1.xml" Id="R715d82bb32cf432f" /><Relationship Type="http://schemas.openxmlformats.org/officeDocument/2006/relationships/slide" Target="/ppt/slides/slide2.xml" Id="Rb11b2ee6f71442ca" /><Relationship Type="http://schemas.openxmlformats.org/officeDocument/2006/relationships/slide" Target="/ppt/slides/slide3.xml" Id="R07146756cb614467" /><Relationship Type="http://schemas.openxmlformats.org/officeDocument/2006/relationships/slide" Target="/ppt/slides/slide4.xml" Id="R8679729ffbd74016" /><Relationship Type="http://schemas.openxmlformats.org/officeDocument/2006/relationships/slide" Target="/ppt/slides/slide5.xml" Id="Rf64d8a0a919744f5" /><Relationship Type="http://schemas.openxmlformats.org/officeDocument/2006/relationships/slide" Target="/ppt/slides/slide6.xml" Id="R0348db7270b94b05" /><Relationship Type="http://schemas.openxmlformats.org/officeDocument/2006/relationships/slide" Target="/ppt/slides/slide7.xml" Id="R16204c5c87364f3a" /><Relationship Type="http://schemas.openxmlformats.org/officeDocument/2006/relationships/slide" Target="/ppt/slides/slide8.xml" Id="Rcef1f4100f3e4241" /><Relationship Type="http://schemas.openxmlformats.org/officeDocument/2006/relationships/slide" Target="/ppt/slides/slide9.xml" Id="R04089a6e96514cec" /><Relationship Type="http://schemas.openxmlformats.org/officeDocument/2006/relationships/slide" Target="/ppt/slides/slide10.xml" Id="R4bf4694c0cb847a2" /><Relationship Type="http://schemas.openxmlformats.org/officeDocument/2006/relationships/slide" Target="/ppt/slides/slide11.xml" Id="R5bcb15eb9dac49d2" /><Relationship Type="http://schemas.openxmlformats.org/officeDocument/2006/relationships/slide" Target="/ppt/slides/slide12.xml" Id="R97c2bc38a2ec48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fb433350af4e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1dfde0f6244b09" /><Relationship Type="http://schemas.openxmlformats.org/officeDocument/2006/relationships/notesMaster" Target="/ppt/notesMasters/notesMaster1.xml" Id="R5e70500bb9f84c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e72248781b41e4" /><Relationship Type="http://schemas.openxmlformats.org/officeDocument/2006/relationships/notesMaster" Target="/ppt/notesMasters/notesMaster1.xml" Id="Rc625ba99438645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948d0f9c5c4d98" /><Relationship Type="http://schemas.openxmlformats.org/officeDocument/2006/relationships/notesMaster" Target="/ppt/notesMasters/notesMaster1.xml" Id="R17adbdccef2440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2a50b8ae1e417c" /><Relationship Type="http://schemas.openxmlformats.org/officeDocument/2006/relationships/notesMaster" Target="/ppt/notesMasters/notesMaster1.xml" Id="Rfec0d073b4d848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8eefeda62249ee" /><Relationship Type="http://schemas.openxmlformats.org/officeDocument/2006/relationships/notesMaster" Target="/ppt/notesMasters/notesMaster1.xml" Id="Rd279872866194c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0123b438d040e0" /><Relationship Type="http://schemas.openxmlformats.org/officeDocument/2006/relationships/notesMaster" Target="/ppt/notesMasters/notesMaster1.xml" Id="Ra3b4bc5759bf49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58baed60964c1c" /><Relationship Type="http://schemas.openxmlformats.org/officeDocument/2006/relationships/notesMaster" Target="/ppt/notesMasters/notesMaster1.xml" Id="R04233e92a6bf45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85a2d1cf04405a" /><Relationship Type="http://schemas.openxmlformats.org/officeDocument/2006/relationships/notesMaster" Target="/ppt/notesMasters/notesMaster1.xml" Id="R06350f50038747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107b6a68504304" /><Relationship Type="http://schemas.openxmlformats.org/officeDocument/2006/relationships/notesMaster" Target="/ppt/notesMasters/notesMaster1.xml" Id="R048c6d15f44f49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8728b3a7da4531" /><Relationship Type="http://schemas.openxmlformats.org/officeDocument/2006/relationships/notesMaster" Target="/ppt/notesMasters/notesMaster1.xml" Id="R4dbf7a48d0784e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a6700bfd569402b" /><Relationship Type="http://schemas.openxmlformats.org/officeDocument/2006/relationships/notesMaster" Target="/ppt/notesMasters/notesMaster1.xml" Id="R087b7b9a12df44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f8600dc7f74973" /><Relationship Type="http://schemas.openxmlformats.org/officeDocument/2006/relationships/notesMaster" Target="/ppt/notesMasters/notesMaster1.xml" Id="Re85f5f3ff8194d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Executive interpretation: ADRL is a working local prototype with a limited real observation pilot and newly validated synthetic execution lifecycle. Current work remains in Wave 3. This deck describes the whole journey, not just the latest patch. It contains no production-readiness, general accuracy or savings claim.</a:t>
            </a:r>
          </a:p>
          <a:p xmlns:a="http://schemas.openxmlformats.org/drawingml/2006/main">
            <a:r>
              <a:t/>
            </a:r>
          </a:p>
          <a:p xmlns:a="http://schemas.openxmlformats.org/drawingml/2006/main">
            <a:r>
              <a:t>Source records (as of 8 September 2026):</a:t>
            </a:r>
          </a:p>
          <a:p xmlns:a="http://schemas.openxmlformats.org/drawingml/2006/main">
            <a:r>
              <a:t>/Users/arunmenon/projects/adrl-world-class/reports/research/adrl-execution-state.json</a:t>
            </a:r>
          </a:p>
          <a:p xmlns:a="http://schemas.openxmlformats.org/drawingml/2006/main">
            <a:r>
              <a:t>/Users/arunmenon/projects/adrl-world-class/reports/adrl-implementation-roadmap-2026-09-07.md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intended product role. A harness means the coding tool around the model, such as Claude Code. Current support has different depths: observing tool activity is distinct from enforcing model-traffic policy. Applying all rules across multiple tools remains future qualification. The business purpose is greater accountability and control, with any quality or cost benefit to be measured later.</a:t>
            </a:r>
          </a:p>
          <a:p xmlns:a="http://schemas.openxmlformats.org/drawingml/2006/main">
            <a:r>
              <a:t/>
            </a:r>
          </a:p>
          <a:p xmlns:a="http://schemas.openxmlformats.org/drawingml/2006/main">
            <a:r>
              <a:t>Source records (as of 8 September 2026):</a:t>
            </a:r>
          </a:p>
          <a:p xmlns:a="http://schemas.openxmlformats.org/drawingml/2006/main">
            <a:r>
              <a:t>/Users/arunmenon/projects/adrl-world-class/reports/adrl-implementation-roadmap-2026-09-07.md</a:t>
            </a:r>
          </a:p>
          <a:p xmlns:a="http://schemas.openxmlformats.org/drawingml/2006/main">
            <a:r>
              <a:t>/Users/arunmenon/projects/adrl-world-class/reports/adrl-independent-research-review-2026-09-07.md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two implementation packages separated native protocol behavior and coding-tool adaptation from shared authenticated session/event/timeline services. Later packages added separate verification receipts, encrypted operator captures and task-attempt records. A capture preserves the selected bytes, but automatic attribution to the exact end of an agent task remains unimplemented. Controlled execution currently admits a fixed self-authored synthetic program on one configured local Docker engine. This is not general hostile-code isolation.</a:t>
            </a:r>
          </a:p>
          <a:p xmlns:a="http://schemas.openxmlformats.org/drawingml/2006/main">
            <a:r>
              <a:t/>
            </a:r>
          </a:p>
          <a:p xmlns:a="http://schemas.openxmlformats.org/drawingml/2006/main">
            <a:r>
              <a:t>Source records (as of 8 September 2026):</a:t>
            </a:r>
          </a:p>
          <a:p xmlns:a="http://schemas.openxmlformats.org/drawingml/2006/main">
            <a:r>
              <a:t>/Users/arunmenon/projects/adrl-world-class/reports/adrl-product-services-implementation-2026-09-07.md</a:t>
            </a:r>
          </a:p>
          <a:p xmlns:a="http://schemas.openxmlformats.org/drawingml/2006/main">
            <a:r>
              <a:t>/Users/arunmenon/projects/adrl-world-class/reports/adrl-session-verification-2026-09-07.md</a:t>
            </a:r>
          </a:p>
          <a:p xmlns:a="http://schemas.openxmlformats.org/drawingml/2006/main">
            <a:r>
              <a:t>/Users/arunmenon/projects/adrl-world-class/reports/adrl-w3-1-operator-captures-2026-09-08.md</a:t>
            </a:r>
          </a:p>
          <a:p xmlns:a="http://schemas.openxmlformats.org/drawingml/2006/main">
            <a:r>
              <a:t>/Users/arunmenon/projects/adrl-world-class/reports/adrl-w3-transport-receipts-2026-09-08.md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user, one repository subset, one task family and two engineered Claude sessions: native baseline followed by observed repair. Only the observed session produced the 18 reconciled tool events, including one failed test action. The pilot fixed template rendering in a selected dataset-validator copy. Separate automated compatibility checks rejected the first plausible fix and accepted the repair after eight tests. The same implementer selected the checks, so this is not an independent personnel review. No matched routing-policy comparison or cost-saving claim follows. The original repository stayed unchanged.</a:t>
            </a:r>
          </a:p>
          <a:p xmlns:a="http://schemas.openxmlformats.org/drawingml/2006/main">
            <a:r>
              <a:t/>
            </a:r>
          </a:p>
          <a:p xmlns:a="http://schemas.openxmlformats.org/drawingml/2006/main">
            <a:r>
              <a:t>Source records (as of 8 September 2026):</a:t>
            </a:r>
          </a:p>
          <a:p xmlns:a="http://schemas.openxmlformats.org/drawingml/2006/main">
            <a:r>
              <a:t>/Users/arunmenon/projects/adrl-world-class/reports/adrl-live-observation-pilot-2026-09-07.md</a:t>
            </a:r>
          </a:p>
          <a:p xmlns:a="http://schemas.openxmlformats.org/drawingml/2006/main">
            <a:r>
              <a:t>/Users/arunmenon/projects/adrl-world-class/reports/adrl-session-verification-2026-09-07.md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verifier: four of seven correct classifications. Candidate: seven of seven. Examples comprise two correct implementations, four defective variants, and one unavailable environment. Both repetitions agreed, yielding 28 verifier trials, but only seven distinct prepared examples. The implementer authored the candidate and visible cases. The candidate remains review-only and has not automatically replaced the pilot verifier. This demonstrates comparison machinery and detection of known defects, not population accuracy or autonomous RSI.</a:t>
            </a:r>
          </a:p>
          <a:p xmlns:a="http://schemas.openxmlformats.org/drawingml/2006/main">
            <a:r>
              <a:t/>
            </a:r>
          </a:p>
          <a:p xmlns:a="http://schemas.openxmlformats.org/drawingml/2006/main">
            <a:r>
              <a:t>Source records (as of 8 September 2026):</a:t>
            </a:r>
          </a:p>
          <a:p xmlns:a="http://schemas.openxmlformats.org/drawingml/2006/main">
            <a:r>
              <a:t>/Users/arunmenon/projects/adrl-world-class/reports/adrl-improvement-experiment-2026-09-07.md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fresh finite run comprised one stopped-create case, four launch cases, then the entire suite with eight engine cases enabled. It issued 13 creates, received 13 original full IDs, and confirmed all 13 absent. Eight synthetic workloads started. The unique imported image was removed. Final suite 895 passed, zero skipped, all eleven checks, 316 stable source inputs. The fixed fixture, one configured Docker engine, explicit security profile and no model/network/real task data define the scope. A created resource with no original ID receipt still remains unbound and cannot be adopted by name.</a:t>
            </a:r>
          </a:p>
          <a:p xmlns:a="http://schemas.openxmlformats.org/drawingml/2006/main">
            <a:r>
              <a:t/>
            </a:r>
          </a:p>
          <a:p xmlns:a="http://schemas.openxmlformats.org/drawingml/2006/main">
            <a:r>
              <a:t>Source records (as of 8 September 2026):</a:t>
            </a:r>
          </a:p>
          <a:p xmlns:a="http://schemas.openxmlformats.org/drawingml/2006/main">
            <a:r>
              <a:t>/Users/arunmenon/projects/adrl-world-class/reports/adrl-w3-transport-receipts-2026-09-08.md</a:t>
            </a:r>
          </a:p>
          <a:p xmlns:a="http://schemas.openxmlformats.org/drawingml/2006/main">
            <a:r>
              <a:t>/Users/arunmenon/projects/adrl-world-class/reports/research/adrl-w3-transport-receipts-2026-09-08.json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three recorded course corrections, not evidence of a perfect system. A POSIX group alone failed to contain a detached writer, prompting the optional isolated backend. Persistent revocation markers repaired a stale-key recovery weakness for future reads through current APIs, with active copies remaining a separate limitation. Offline response delay reproduced a lost receipt under two seconds and a successful original receipt under ten seconds. The historical real failure lacked an underlying error category, so timeout remains a plausible mechanism rather than proven cause.</a:t>
            </a:r>
          </a:p>
          <a:p xmlns:a="http://schemas.openxmlformats.org/drawingml/2006/main">
            <a:r>
              <a:t/>
            </a:r>
          </a:p>
          <a:p xmlns:a="http://schemas.openxmlformats.org/drawingml/2006/main">
            <a:r>
              <a:t>Source records (as of 8 September 2026):</a:t>
            </a:r>
          </a:p>
          <a:p xmlns:a="http://schemas.openxmlformats.org/drawingml/2006/main">
            <a:r>
              <a:t>/Users/arunmenon/projects/adrl-world-class/reports/adrl-implementation-journey.md</a:t>
            </a:r>
          </a:p>
          <a:p xmlns:a="http://schemas.openxmlformats.org/drawingml/2006/main">
            <a:r>
              <a:t>/Users/arunmenon/projects/adrl-world-class/reports/adrl-w3-2b2b1-key-revocation-2026-09-08.md</a:t>
            </a:r>
          </a:p>
          <a:p xmlns:a="http://schemas.openxmlformats.org/drawingml/2006/main">
            <a:r>
              <a:t>/Users/arunmenon/projects/adrl-world-class/reports/adrl-w3-transport-receipts-2026-09-08.md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register contains mixed historical maturity statements. This program preserves them and adds precisely scoped evidence rather than inventing a portfolio score. Eight ADRs were updated in the latest slice; preceding slices updated their own owners. The 77 architecture status/maturity fields were verified unchanged after the latest runtime work. Missing independent evaluation/security reviewers block the relevant later qualification and graduation, not current local implementation. Formal maturity, code presence, observed fixtures and real workflow performance are different kinds of evidence.</a:t>
            </a:r>
          </a:p>
          <a:p xmlns:a="http://schemas.openxmlformats.org/drawingml/2006/main">
            <a:r>
              <a:t/>
            </a:r>
          </a:p>
          <a:p xmlns:a="http://schemas.openxmlformats.org/drawingml/2006/main">
            <a:r>
              <a:t>Source records (as of 8 September 2026):</a:t>
            </a:r>
          </a:p>
          <a:p xmlns:a="http://schemas.openxmlformats.org/drawingml/2006/main">
            <a:r>
              <a:t>/Users/arunmenon/projects/adrl-world-class/reports/research/adrl-execution-state.json</a:t>
            </a:r>
          </a:p>
          <a:p xmlns:a="http://schemas.openxmlformats.org/drawingml/2006/main">
            <a:r>
              <a:t>/Users/arunmenon/projects/adrl-world-class/reports/research/adrl-maturity-baseline-2026-09-07.json</a:t>
            </a:r>
          </a:p>
          <a:p xmlns:a="http://schemas.openxmlformats.org/drawingml/2006/main">
            <a:r>
              <a:t>/Users/arunmenon/projects/adrl-world-class/reports/adrl-implementation-roadmap-2026-09-07.md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stable matrix uses Claude Code and OpenCode on the Messages family and Codex on Responses. The local public API remains preview 4. Shared identity/events/evidence contracts exist, but no full OpenCode or Codex integration qualification follows. Adapters translate tool-specific signals while shared services own policy and evidence. The first release scope is local and single-user. A team/managed offering has separate tenancy and operational gates. This slide states the internal product plan, not a live market capability comparison.</a:t>
            </a:r>
          </a:p>
          <a:p xmlns:a="http://schemas.openxmlformats.org/drawingml/2006/main">
            <a:r>
              <a:t/>
            </a:r>
          </a:p>
          <a:p xmlns:a="http://schemas.openxmlformats.org/drawingml/2006/main">
            <a:r>
              <a:t>Source records (as of 8 September 2026):</a:t>
            </a:r>
          </a:p>
          <a:p xmlns:a="http://schemas.openxmlformats.org/drawingml/2006/main">
            <a:r>
              <a:t>/Users/arunmenon/projects/adrl-world-class/reports/adrl-implementation-roadmap-2026-09-07.md</a:t>
            </a:r>
          </a:p>
          <a:p xmlns:a="http://schemas.openxmlformats.org/drawingml/2006/main">
            <a:r>
              <a:t>/Users/arunmenon/projects/adrl-world-class/reports/adrl-product-services-implementation-2026-09-07.md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Wave 3 remains active at active-copy custody. Next are safe extraction, exact stop/capture association and verifier/timeline integration. Wave 4 develops verifier calibration on fresh independently reviewed expectations. Wave 5 proves shared-contract reuse in OpenCode. Waves 6 and 7 cover control and routing economics; Wave 8 includes Responses admission and stable local product release. Wave 9 is gated learned routing, Wave 10 automated proposals, Wave 11 an optional team scope, and Wave 12 evaluation of changes to the improvement method. Wave 11 is not itself an increase in intelligence. No estimated delivery dates or unmeasured benefits are implied.</a:t>
            </a:r>
          </a:p>
          <a:p xmlns:a="http://schemas.openxmlformats.org/drawingml/2006/main">
            <a:r>
              <a:t/>
            </a:r>
          </a:p>
          <a:p xmlns:a="http://schemas.openxmlformats.org/drawingml/2006/main">
            <a:r>
              <a:t>Source records (as of 8 September 2026):</a:t>
            </a:r>
          </a:p>
          <a:p xmlns:a="http://schemas.openxmlformats.org/drawingml/2006/main">
            <a:r>
              <a:t>/Users/arunmenon/projects/adrl-world-class/reports/adrl-implementation-roadmap-2026-09-07.md</a:t>
            </a:r>
          </a:p>
          <a:p xmlns:a="http://schemas.openxmlformats.org/drawingml/2006/main">
            <a:r>
              <a:t>/Users/arunmenon/projects/adrl-world-class/reports/waves/w3-active-copy-custody.md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RSI means recursive self-improvement: improving the mechanism that finds and evaluates future improvements. The current implementation demonstrates an operator-run comparison and human-directed engineering course corrections. It does not autonomously generate and deploy improvements or train the coding model. Later stages may propose changes automatically. Independent evaluation, limits, release review and rollback must remain separate. A recursive benefit itself needs a comparison of improvement methods on independently assessed downstream outcomes.</a:t>
            </a:r>
          </a:p>
          <a:p xmlns:a="http://schemas.openxmlformats.org/drawingml/2006/main">
            <a:r>
              <a:t/>
            </a:r>
          </a:p>
          <a:p xmlns:a="http://schemas.openxmlformats.org/drawingml/2006/main">
            <a:r>
              <a:t>Source records (as of 8 September 2026):</a:t>
            </a:r>
          </a:p>
          <a:p xmlns:a="http://schemas.openxmlformats.org/drawingml/2006/main">
            <a:r>
              <a:t>/Users/arunmenon/projects/adrl-world-class/reports/adrl-implementation-roadmap-2026-09-07.md</a:t>
            </a:r>
          </a:p>
          <a:p xmlns:a="http://schemas.openxmlformats.org/drawingml/2006/main">
            <a:r>
              <a:t>/Users/arunmenon/projects/adrl-world-class/reports/adrl-improvement-experiment-2026-09-07.md</a:t>
            </a:r>
          </a:p>
          <a:p xmlns:a="http://schemas.openxmlformats.org/drawingml/2006/main">
            <a:r>
              <a:t>/Users/arunmenon/projects/adrl-world-class/reports/adrl-w3-transport-receipts-2026-09-08.md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executive demonstration should connect exact completed output to separate verification with complete failure accounting. Before larger pilots, leadership will need independent evaluation/security reviewers and concrete real task/repository, credential, network, retention and budget choices. Existing authorization allows bounded local work without repeated approvals. It does not authorize new API spend, production deployment or automatic policy graduation. Savings, broad coding-quality gains, stable multi-tool support and enterprise readiness remain to be demonstrated.</a:t>
            </a:r>
          </a:p>
          <a:p xmlns:a="http://schemas.openxmlformats.org/drawingml/2006/main">
            <a:r>
              <a:t/>
            </a:r>
          </a:p>
          <a:p xmlns:a="http://schemas.openxmlformats.org/drawingml/2006/main">
            <a:r>
              <a:t>Source records (as of 8 September 2026):</a:t>
            </a:r>
          </a:p>
          <a:p xmlns:a="http://schemas.openxmlformats.org/drawingml/2006/main">
            <a:r>
              <a:t>/Users/arunmenon/projects/adrl-world-class/reports/waves/w3-active-copy-custody.md</a:t>
            </a:r>
          </a:p>
          <a:p xmlns:a="http://schemas.openxmlformats.org/drawingml/2006/main">
            <a:r>
              <a:t>/Users/arunmenon/projects/adrl-world-class/reports/adrl-implementation-roadmap-2026-09-07.md</a:t>
            </a:r>
          </a:p>
          <a:p xmlns:a="http://schemas.openxmlformats.org/drawingml/2006/main">
            <a:r>
              <a:t>/Users/arunmenon/projects/adrl-world-class/reports/research/adrl-execution-state.json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acac014dba40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75c651ff6d46a7" /><Relationship Type="http://schemas.openxmlformats.org/officeDocument/2006/relationships/slideLayout" Target="/ppt/slideLayouts/slideLayout1.xml" Id="R8bb84a3c618643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b84a3c618643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7676a78344450f" /><Relationship Type="http://schemas.openxmlformats.org/officeDocument/2006/relationships/notesSlide" Target="/ppt/notesSlides/notesSlide1.xml" Id="R11d81a37781e41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9adcbdf6ff4cb6" /><Relationship Type="http://schemas.openxmlformats.org/officeDocument/2006/relationships/notesSlide" Target="/ppt/notesSlides/notesSlide2.xml" Id="Raa165a99e7ea46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1dca2a8b9c4ea5" /><Relationship Type="http://schemas.openxmlformats.org/officeDocument/2006/relationships/notesSlide" Target="/ppt/notesSlides/notesSlide3.xml" Id="R1d765f99fa0340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285892b4ad46aa" /><Relationship Type="http://schemas.openxmlformats.org/officeDocument/2006/relationships/notesSlide" Target="/ppt/notesSlides/notesSlide4.xml" Id="Rcfaa306c8ea840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26f8c6feb449f8" /><Relationship Type="http://schemas.openxmlformats.org/officeDocument/2006/relationships/chart" Target="/ppt/slides/charts/chart1.xml" Id="Rf0b5c18179a246da" /><Relationship Type="http://schemas.openxmlformats.org/officeDocument/2006/relationships/notesSlide" Target="/ppt/notesSlides/notesSlide5.xml" Id="Ra5ca1c70777f44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5bee4fbcdc4762" /><Relationship Type="http://schemas.openxmlformats.org/officeDocument/2006/relationships/notesSlide" Target="/ppt/notesSlides/notesSlide6.xml" Id="R4004dfaa619246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db9231658914816" /><Relationship Type="http://schemas.openxmlformats.org/officeDocument/2006/relationships/notesSlide" Target="/ppt/notesSlides/notesSlide7.xml" Id="R3e7cbf1bc87246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524a9850e24c41" /><Relationship Type="http://schemas.openxmlformats.org/officeDocument/2006/relationships/notesSlide" Target="/ppt/notesSlides/notesSlide8.xml" Id="R95f82a6e76c243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3c5a66c1494118" /><Relationship Type="http://schemas.openxmlformats.org/officeDocument/2006/relationships/notesSlide" Target="/ppt/notesSlides/notesSlide9.xml" Id="R0ba8d97da06144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ed193bab8c54b68" /><Relationship Type="http://schemas.openxmlformats.org/officeDocument/2006/relationships/notesSlide" Target="/ppt/notesSlides/notesSlide10.xml" Id="R0e311c608a904f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3e999ea0554f9c" /><Relationship Type="http://schemas.openxmlformats.org/officeDocument/2006/relationships/notesSlide" Target="/ppt/notesSlides/notesSlide11.xml" Id="Rfaf937dec98448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c9bb090ff8c4ab5" /><Relationship Type="http://schemas.openxmlformats.org/officeDocument/2006/relationships/notesSlide" Target="/ppt/notesSlides/notesSlide12.xml" Id="R5a2fc421f293456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Correct examples</c:v>
          </c:tx>
          <c:dPt>
            <c:idx val="0"/>
            <c:invertIfNegative val="0"/>
            <c:spPr>
              <a:solidFill xmlns:a="http://schemas.openxmlformats.org/drawingml/2006/main">
                <a:srgbClr val="99AEAF"/>
              </a:solidFill>
            </c:spPr>
          </c:dPt>
          <c:dPt>
            <c:idx val="1"/>
            <c:invertIfNegative val="0"/>
            <c:spPr>
              <a:solidFill xmlns:a="http://schemas.openxmlformats.org/drawingml/2006/main">
                <a:srgbClr val="087E80"/>
              </a:solidFill>
            </c:spPr>
          </c:dPt>
          <c:cat>
            <c:strRef>
              <c:f>'Chart Data'!$A$2:$A$3</c:f>
              <c:strCache>
                <c:ptCount val="2"/>
                <c:pt idx="0">
                  <c:v>Earlier checks</c:v>
                </c:pt>
                <c:pt idx="1">
                  <c:v>Proposed checks</c:v>
                </c:pt>
              </c:strCache>
            </c:strRef>
          </c:cat>
          <c:val>
            <c:numRef>
              <c:f>'Chart Data'!$B$2:$B$3</c:f>
              <c:numCache>
                <c:formatCode>General</c:formatCode>
                <c:ptCount val="2"/>
                <c:pt idx="0">
                  <c:v>4</c:v>
                </c:pt>
                <c:pt idx="1">
                  <c:v>7</c:v>
                </c:pt>
              </c:numCache>
            </c:numRef>
          </c:val>
        </c:ser>
        <c:dLbls>
          <c:txPr>
            <a:bodyPr xmlns:a="http://schemas.openxmlformats.org/drawingml/2006/main" anchorCtr="1"/>
            <a:lstStyle xmlns:a="http://schemas.openxmlformats.org/drawingml/2006/main"/>
            <a:p xmlns:a="http://schemas.openxmlformats.org/drawingml/2006/main">
              <a:pPr>
                <a:defRPr sz="2100">
                  <a:solidFill>
                    <a:srgbClr val="142C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7"/>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Helvetica Neue"/>
                <a:ea typeface="Helvetica Neue"/>
                <a:cs typeface="Helvetica Neue"/>
              </a:defRPr>
            </a:pPr>
          </a:p>
        </c:txPr>
        <c:crossAx val="48650112"/>
        <c:crossBetween val="between"/>
        <c:majorUnit val="1"/>
      </c:valAx>
      <c:spPr>
        <a:solidFill xmlns:a="http://schemas.openxmlformats.org/drawingml/2006/main">
          <a:srgbClr val="F5F4EF"/>
        </a:solidFill>
      </c:spPr>
    </c:plotArea>
    <c:plotVisOnly val="1"/>
  </c:chart>
  <c:spPr>
    <a:solidFill xmlns:a="http://schemas.openxmlformats.org/drawingml/2006/main">
      <a:srgbClr val="F5F4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3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8F2BD1-5891-4914-96DA-C1443DB8A230}"/>
              </a:ext>
            </a:extLst>
          </p:cNvPr>
          <p:cNvSpPr>
            <a:spLocks xmlns:a="http://schemas.openxmlformats.org/drawingml/2006/main" noGrp="1"/>
          </p:cNvSpPr>
          <p:nvPr/>
        </p:nvSpPr>
        <p:spPr>
          <a:xfrm xmlns:a="http://schemas.openxmlformats.org/drawingml/2006/main">
            <a:off x="685800" y="762000"/>
            <a:ext cx="9525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ADRL</a:t>
            </a:r>
          </a:p>
        </p:txBody>
      </p:sp>
      <p:sp>
        <p:nvSpPr>
          <p:cNvPr id="2" name="">
            <a:extLst xmlns:a="http://schemas.openxmlformats.org/drawingml/2006/main">
              <a:ext uri="{FF2B5EF4-FFF2-40B4-BE49-F238E27FC236}">
                <a16:creationId xmlns:a16="http://schemas.microsoft.com/office/drawing/2014/main" id="{B7DC4003-81BC-4A85-9B9A-89C4CB205A03}"/>
              </a:ext>
            </a:extLst>
          </p:cNvPr>
          <p:cNvSpPr>
            <a:spLocks xmlns:a="http://schemas.openxmlformats.org/drawingml/2006/main" noGrp="1"/>
          </p:cNvSpPr>
          <p:nvPr/>
        </p:nvSpPr>
        <p:spPr>
          <a:xfrm xmlns:a="http://schemas.openxmlformats.org/drawingml/2006/main">
            <a:off x="723900" y="20383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FFFFF"/>
                </a:solidFill>
                <a:latin typeface="Helvetica Neue"/>
                <a:ea typeface="Helvetica Neue"/>
                <a:cs typeface="Helvetica Neue"/>
              </a:defRPr>
            </a:pPr>
            <a:r>
              <a:rPr sz="3600" b="0">
                <a:solidFill>
                  <a:srgbClr val="FFFFFF"/>
                </a:solidFill>
                <a:latin typeface="Helvetica Neue"/>
                <a:ea typeface="Helvetica Neue"/>
                <a:cs typeface="Helvetica Neue"/>
              </a:rPr>
              <a:t>Executive progress review</a:t>
            </a:r>
          </a:p>
        </p:txBody>
      </p:sp>
      <p:sp>
        <p:nvSpPr>
          <p:cNvPr id="3" name="">
            <a:extLst xmlns:a="http://schemas.openxmlformats.org/drawingml/2006/main">
              <a:ext uri="{FF2B5EF4-FFF2-40B4-BE49-F238E27FC236}">
                <a16:creationId xmlns:a16="http://schemas.microsoft.com/office/drawing/2014/main" id="{F7683AB3-4EA8-4189-BA85-E68D90226829}"/>
              </a:ext>
            </a:extLst>
          </p:cNvPr>
          <p:cNvSpPr>
            <a:spLocks xmlns:a="http://schemas.openxmlformats.org/drawingml/2006/main" noGrp="1"/>
          </p:cNvSpPr>
          <p:nvPr/>
        </p:nvSpPr>
        <p:spPr>
          <a:xfrm xmlns:a="http://schemas.openxmlformats.org/drawingml/2006/main">
            <a:off x="723900" y="3419475"/>
            <a:ext cx="9906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75" b="0">
                <a:solidFill>
                  <a:srgbClr val="DDEBE8"/>
                </a:solidFill>
                <a:latin typeface="Helvetica Neue"/>
                <a:ea typeface="Helvetica Neue"/>
                <a:cs typeface="Helvetica Neue"/>
              </a:defRPr>
            </a:pPr>
            <a:r>
              <a:rPr sz="3075" b="0">
                <a:solidFill>
                  <a:srgbClr val="DDEBE8"/>
                </a:solidFill>
                <a:latin typeface="Helvetica Neue"/>
                <a:ea typeface="Helvetica Neue"/>
                <a:cs typeface="Helvetica Neue"/>
              </a:rPr>
              <a:t>Building dependable oversight</a:t>
            </a:r>
          </a:p>
          <a:p xmlns:a="http://schemas.openxmlformats.org/drawingml/2006/main">
            <a:pPr>
              <a:defRPr sz="3075" b="0">
                <a:solidFill>
                  <a:srgbClr val="DDEBE8"/>
                </a:solidFill>
                <a:latin typeface="Helvetica Neue"/>
                <a:ea typeface="Helvetica Neue"/>
                <a:cs typeface="Helvetica Neue"/>
              </a:defRPr>
            </a:pPr>
            <a:r>
              <a:rPr sz="3075" b="0">
                <a:solidFill>
                  <a:srgbClr val="DDEBE8"/>
                </a:solidFill>
                <a:latin typeface="Helvetica Neue"/>
                <a:ea typeface="Helvetica Neue"/>
                <a:cs typeface="Helvetica Neue"/>
              </a:rPr>
              <a:t>for AI coding work</a:t>
            </a:r>
          </a:p>
        </p:txBody>
      </p:sp>
      <p:sp>
        <p:nvSpPr>
          <p:cNvPr id="4" name="">
            <a:extLst xmlns:a="http://schemas.openxmlformats.org/drawingml/2006/main">
              <a:ext uri="{FF2B5EF4-FFF2-40B4-BE49-F238E27FC236}">
                <a16:creationId xmlns:a16="http://schemas.microsoft.com/office/drawing/2014/main" id="{5863328B-BFF5-425A-B848-59C6D7289CE0}"/>
              </a:ext>
            </a:extLst>
          </p:cNvPr>
          <p:cNvSpPr>
            <a:spLocks xmlns:a="http://schemas.openxmlformats.org/drawingml/2006/main" noGrp="1"/>
          </p:cNvSpPr>
          <p:nvPr/>
        </p:nvSpPr>
        <p:spPr>
          <a:xfrm xmlns:a="http://schemas.openxmlformats.org/drawingml/2006/main">
            <a:off x="733425" y="59912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DDEBE8"/>
                </a:solidFill>
                <a:latin typeface="Helvetica Neue"/>
                <a:ea typeface="Helvetica Neue"/>
                <a:cs typeface="Helvetica Neue"/>
              </a:defRPr>
            </a:pPr>
            <a:r>
              <a:rPr sz="1800" b="0">
                <a:solidFill>
                  <a:srgbClr val="DDEBE8"/>
                </a:solidFill>
                <a:latin typeface="Helvetica Neue"/>
                <a:ea typeface="Helvetica Neue"/>
                <a:cs typeface="Helvetica Neue"/>
              </a:rPr>
              <a:t>8 September 2026</a:t>
            </a:r>
          </a:p>
        </p:txBody>
      </p:sp>
    </p:spTree>
    <p:extLst>
      <p:ext uri="{BB962C8B-B14F-4D97-AF65-F5344CB8AC3E}">
        <p14:creationId xmlns:p14="http://schemas.microsoft.com/office/powerpoint/2010/main" val="1204346654"/>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B5E6E4-F4B1-4B6A-A6E9-BD81AB5611C7}"/>
              </a:ext>
            </a:extLst>
          </p:cNvPr>
          <p:cNvSpPr>
            <a:spLocks xmlns:a="http://schemas.openxmlformats.org/drawingml/2006/main" noGrp="1"/>
          </p:cNvSpPr>
          <p:nvPr/>
        </p:nvSpPr>
        <p:spPr>
          <a:xfrm xmlns:a="http://schemas.openxmlformats.org/drawingml/2006/main">
            <a:off x="666750" y="504825"/>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38"/>
                </a:solidFill>
                <a:latin typeface="Helvetica Neue"/>
                <a:ea typeface="Helvetica Neue"/>
                <a:cs typeface="Helvetica Neue"/>
              </a:defRPr>
            </a:pPr>
            <a:r>
              <a:rPr sz="3450" b="1">
                <a:solidFill>
                  <a:srgbClr val="142C38"/>
                </a:solidFill>
                <a:latin typeface="Helvetica Neue"/>
                <a:ea typeface="Helvetica Neue"/>
                <a:cs typeface="Helvetica Neue"/>
              </a:rPr>
              <a:t>ADRL’s role</a:t>
            </a:r>
          </a:p>
        </p:txBody>
      </p:sp>
      <p:sp>
        <p:nvSpPr>
          <p:cNvPr id="2" name="">
            <a:extLst xmlns:a="http://schemas.openxmlformats.org/drawingml/2006/main">
              <a:ext uri="{FF2B5EF4-FFF2-40B4-BE49-F238E27FC236}">
                <a16:creationId xmlns:a16="http://schemas.microsoft.com/office/drawing/2014/main" id="{222CEE51-62BB-45FA-8D1A-5652E4FF270D}"/>
              </a:ext>
            </a:extLst>
          </p:cNvPr>
          <p:cNvSpPr>
            <a:spLocks xmlns:a="http://schemas.openxmlformats.org/drawingml/2006/main" noGrp="1"/>
          </p:cNvSpPr>
          <p:nvPr/>
        </p:nvSpPr>
        <p:spPr>
          <a:xfrm xmlns:a="http://schemas.openxmlformats.org/drawingml/2006/main">
            <a:off x="685800" y="16764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536672"/>
                </a:solidFill>
                <a:latin typeface="Helvetica Neue"/>
                <a:ea typeface="Helvetica Neue"/>
                <a:cs typeface="Helvetica Neue"/>
              </a:defRPr>
            </a:pPr>
            <a:r>
              <a:rPr sz="2025" b="0">
                <a:solidFill>
                  <a:srgbClr val="536672"/>
                </a:solidFill>
                <a:latin typeface="Helvetica Neue"/>
                <a:ea typeface="Helvetica Neue"/>
                <a:cs typeface="Helvetica Neue"/>
              </a:rPr>
              <a:t>A shared supervisor around the AI coding tools a developer already uses</a:t>
            </a:r>
          </a:p>
        </p:txBody>
      </p:sp>
      <p:graphicFrame>
        <p:nvGraphicFramePr>
          <p:cNvPr id="7" name=""/>
          <p:cNvGraphicFramePr/>
          <p:nvPr/>
        </p:nvGraphicFramePr>
        <p:xfrm>
          <a:off xmlns:a="http://schemas.openxmlformats.org/drawingml/2006/main" x="685800" y="2381250"/>
          <a:ext xmlns:a="http://schemas.openxmlformats.org/drawingml/2006/main" cx="10820400" cy="2857500"/>
        </p:xfrm>
        <a:graphic xmlns:a="http://schemas.openxmlformats.org/drawingml/2006/main">
          <a:graphicData uri="http://schemas.openxmlformats.org/drawingml/2006/table">
            <a:tbl>
              <a:tblPr/>
              <a:tblGrid>
                <a:gridCol w="3143250"/>
                <a:gridCol w="7677150"/>
              </a:tblGrid>
              <a:tr h="590550">
                <a:tc>
                  <a:txBody>
                    <a:bodyPr/>
                    <a:lstStyle/>
                    <a:p>
                      <a:r>
                        <a:rPr sz="1650" b="1">
                          <a:solidFill>
                            <a:srgbClr val="FFFFFF"/>
                          </a:solidFill>
                          <a:latin typeface="Helvetica Neue"/>
                          <a:ea typeface="Helvetica Neue"/>
                          <a:cs typeface="Helvetica Neue"/>
                        </a:rPr>
                        <a:t>Part of the workflow</a:t>
                      </a:r>
                    </a:p>
                  </a:txBody>
                  <a:tcPr marL="161925" marR="161925" marT="76200" marB="76200" anchor="ctr">
                    <a:solidFill>
                      <a:srgbClr val="142C38"/>
                    </a:solidFill>
                  </a:tcPr>
                </a:tc>
                <a:tc>
                  <a:txBody>
                    <a:bodyPr/>
                    <a:lstStyle/>
                    <a:p>
                      <a:r>
                        <a:rPr sz="1650" b="1">
                          <a:solidFill>
                            <a:srgbClr val="FFFFFF"/>
                          </a:solidFill>
                          <a:latin typeface="Helvetica Neue"/>
                          <a:ea typeface="Helvetica Neue"/>
                          <a:cs typeface="Helvetica Neue"/>
                        </a:rPr>
                        <a:t>Its role</a:t>
                      </a:r>
                    </a:p>
                  </a:txBody>
                  <a:tcPr marL="161925" marR="161925" marT="76200" marB="76200" anchor="ctr">
                    <a:solidFill>
                      <a:srgbClr val="142C38"/>
                    </a:solidFill>
                  </a:tcPr>
                </a:tc>
              </a:tr>
              <a:tr h="755650">
                <a:tc>
                  <a:txBody>
                    <a:bodyPr/>
                    <a:lstStyle/>
                    <a:p>
                      <a:r>
                        <a:rPr sz="2175" b="1">
                          <a:solidFill>
                            <a:srgbClr val="142C38"/>
                          </a:solidFill>
                          <a:latin typeface="Helvetica Neue"/>
                          <a:ea typeface="Helvetica Neue"/>
                          <a:cs typeface="Helvetica Neue"/>
                        </a:rPr>
                        <a:t>Coding tool</a:t>
                      </a:r>
                    </a:p>
                  </a:txBody>
                  <a:tcPr marL="161925" marR="161925" marT="76200" marB="76200" anchor="ctr">
                    <a:solidFill>
                      <a:srgbClr val="FFFFFF"/>
                    </a:solidFill>
                  </a:tcPr>
                </a:tc>
                <a:tc>
                  <a:txBody>
                    <a:bodyPr/>
                    <a:lstStyle/>
                    <a:p>
                      <a:r>
                        <a:rPr sz="2175" b="0">
                          <a:solidFill>
                            <a:srgbClr val="142C38"/>
                          </a:solidFill>
                          <a:latin typeface="Helvetica Neue"/>
                          <a:ea typeface="Helvetica Neue"/>
                          <a:cs typeface="Helvetica Neue"/>
                        </a:rPr>
                        <a:t>Works on files and runs commands</a:t>
                      </a:r>
                    </a:p>
                  </a:txBody>
                  <a:tcPr marL="161925" marR="161925" marT="76200" marB="76200" anchor="ctr">
                    <a:solidFill>
                      <a:srgbClr val="FFFFFF"/>
                    </a:solidFill>
                  </a:tcPr>
                </a:tc>
              </a:tr>
              <a:tr h="755650">
                <a:tc>
                  <a:txBody>
                    <a:bodyPr/>
                    <a:lstStyle/>
                    <a:p>
                      <a:r>
                        <a:rPr sz="2175" b="1">
                          <a:solidFill>
                            <a:srgbClr val="142C38"/>
                          </a:solidFill>
                          <a:latin typeface="Helvetica Neue"/>
                          <a:ea typeface="Helvetica Neue"/>
                          <a:cs typeface="Helvetica Neue"/>
                        </a:rPr>
                        <a:t>AI model</a:t>
                      </a:r>
                    </a:p>
                  </a:txBody>
                  <a:tcPr marL="161925" marR="161925" marT="76200" marB="76200" anchor="ctr">
                    <a:solidFill>
                      <a:srgbClr val="F5F4EF"/>
                    </a:solidFill>
                  </a:tcPr>
                </a:tc>
                <a:tc>
                  <a:txBody>
                    <a:bodyPr/>
                    <a:lstStyle/>
                    <a:p>
                      <a:r>
                        <a:rPr sz="2175" b="0">
                          <a:solidFill>
                            <a:srgbClr val="142C38"/>
                          </a:solidFill>
                          <a:latin typeface="Helvetica Neue"/>
                          <a:ea typeface="Helvetica Neue"/>
                          <a:cs typeface="Helvetica Neue"/>
                        </a:rPr>
                        <a:t>Suggests what to do next</a:t>
                      </a:r>
                    </a:p>
                  </a:txBody>
                  <a:tcPr marL="161925" marR="161925" marT="76200" marB="76200" anchor="ctr">
                    <a:solidFill>
                      <a:srgbClr val="F5F4EF"/>
                    </a:solidFill>
                  </a:tcPr>
                </a:tc>
              </a:tr>
              <a:tr h="755650">
                <a:tc>
                  <a:txBody>
                    <a:bodyPr/>
                    <a:lstStyle/>
                    <a:p>
                      <a:r>
                        <a:rPr sz="2175" b="1">
                          <a:solidFill>
                            <a:srgbClr val="142C38"/>
                          </a:solidFill>
                          <a:latin typeface="Helvetica Neue"/>
                          <a:ea typeface="Helvetica Neue"/>
                          <a:cs typeface="Helvetica Neue"/>
                        </a:rPr>
                        <a:t>ADRL</a:t>
                      </a:r>
                    </a:p>
                  </a:txBody>
                  <a:tcPr marL="161925" marR="161925" marT="76200" marB="76200" anchor="ctr">
                    <a:solidFill>
                      <a:srgbClr val="FFFFFF"/>
                    </a:solidFill>
                  </a:tcPr>
                </a:tc>
                <a:tc>
                  <a:txBody>
                    <a:bodyPr/>
                    <a:lstStyle/>
                    <a:p>
                      <a:r>
                        <a:rPr sz="2175" b="0">
                          <a:solidFill>
                            <a:srgbClr val="142C38"/>
                          </a:solidFill>
                          <a:latin typeface="Helvetica Neue"/>
                          <a:ea typeface="Helvetica Neue"/>
                          <a:cs typeface="Helvetica Neue"/>
                        </a:rPr>
                        <a:t>Applies rules, records activity and checks evidence</a:t>
                      </a:r>
                    </a:p>
                  </a:txBody>
                  <a:tcPr marL="161925" marR="161925"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AE9AE9A-82D8-4CD4-BEDA-3B91C2E8DD45}"/>
              </a:ext>
            </a:extLst>
          </p:cNvPr>
          <p:cNvSpPr>
            <a:spLocks xmlns:a="http://schemas.openxmlformats.org/drawingml/2006/main" noGrp="1"/>
          </p:cNvSpPr>
          <p:nvPr/>
        </p:nvSpPr>
        <p:spPr>
          <a:xfrm xmlns:a="http://schemas.openxmlformats.org/drawingml/2006/main">
            <a:off x="685800" y="62579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36672"/>
                </a:solidFill>
                <a:latin typeface="Helvetica Neue"/>
                <a:ea typeface="Helvetica Neue"/>
                <a:cs typeface="Helvetica Neue"/>
              </a:defRPr>
            </a:pPr>
            <a:r>
              <a:rPr sz="1425" b="0">
                <a:solidFill>
                  <a:srgbClr val="536672"/>
                </a:solidFill>
                <a:latin typeface="Helvetica Neue"/>
                <a:ea typeface="Helvetica Neue"/>
                <a:cs typeface="Helvetica Neue"/>
              </a:rPr>
              <a:t>Product direction: one set of rules and records across supported coding tools.</a:t>
            </a:r>
          </a:p>
        </p:txBody>
      </p:sp>
    </p:spTree>
    <p:extLst>
      <p:ext uri="{BB962C8B-B14F-4D97-AF65-F5344CB8AC3E}">
        <p14:creationId xmlns:p14="http://schemas.microsoft.com/office/powerpoint/2010/main" val="1475777832"/>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D4BA28-FCBD-4AFC-8A1A-636DE861A05A}"/>
              </a:ext>
            </a:extLst>
          </p:cNvPr>
          <p:cNvSpPr>
            <a:spLocks xmlns:a="http://schemas.openxmlformats.org/drawingml/2006/main" noGrp="1"/>
          </p:cNvSpPr>
          <p:nvPr/>
        </p:nvSpPr>
        <p:spPr>
          <a:xfrm xmlns:a="http://schemas.openxmlformats.org/drawingml/2006/main">
            <a:off x="666750" y="504825"/>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38"/>
                </a:solidFill>
                <a:latin typeface="Helvetica Neue"/>
                <a:ea typeface="Helvetica Neue"/>
                <a:cs typeface="Helvetica Neue"/>
              </a:defRPr>
            </a:pPr>
            <a:r>
              <a:rPr sz="3450" b="1">
                <a:solidFill>
                  <a:srgbClr val="142C38"/>
                </a:solidFill>
                <a:latin typeface="Helvetica Neue"/>
                <a:ea typeface="Helvetica Neue"/>
                <a:cs typeface="Helvetica Neue"/>
              </a:rPr>
              <a:t>What we have built</a:t>
            </a:r>
          </a:p>
        </p:txBody>
      </p:sp>
      <p:sp>
        <p:nvSpPr>
          <p:cNvPr id="2" name="">
            <a:extLst xmlns:a="http://schemas.openxmlformats.org/drawingml/2006/main">
              <a:ext uri="{FF2B5EF4-FFF2-40B4-BE49-F238E27FC236}">
                <a16:creationId xmlns:a16="http://schemas.microsoft.com/office/drawing/2014/main" id="{C7E119A3-2221-45B2-A008-2819C4F7AE81}"/>
              </a:ext>
            </a:extLst>
          </p:cNvPr>
          <p:cNvSpPr>
            <a:spLocks xmlns:a="http://schemas.openxmlformats.org/drawingml/2006/main" noGrp="1"/>
          </p:cNvSpPr>
          <p:nvPr/>
        </p:nvSpPr>
        <p:spPr>
          <a:xfrm xmlns:a="http://schemas.openxmlformats.org/drawingml/2006/main">
            <a:off x="685800" y="16764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536672"/>
                </a:solidFill>
                <a:latin typeface="Helvetica Neue"/>
                <a:ea typeface="Helvetica Neue"/>
                <a:cs typeface="Helvetica Neue"/>
              </a:defRPr>
            </a:pPr>
            <a:r>
              <a:rPr sz="2025" b="0">
                <a:solidFill>
                  <a:srgbClr val="536672"/>
                </a:solidFill>
                <a:latin typeface="Helvetica Neue"/>
                <a:ea typeface="Helvetica Neue"/>
                <a:cs typeface="Helvetica Neue"/>
              </a:rPr>
              <a:t>The foundations now support a traceable, testable workflow</a:t>
            </a:r>
          </a:p>
        </p:txBody>
      </p:sp>
      <p:graphicFrame>
        <p:nvGraphicFramePr>
          <p:cNvPr id="7" name=""/>
          <p:cNvGraphicFramePr/>
          <p:nvPr/>
        </p:nvGraphicFramePr>
        <p:xfrm>
          <a:off xmlns:a="http://schemas.openxmlformats.org/drawingml/2006/main" x="685800" y="2381250"/>
          <a:ext xmlns:a="http://schemas.openxmlformats.org/drawingml/2006/main" cx="10820400" cy="3305175"/>
        </p:xfrm>
        <a:graphic xmlns:a="http://schemas.openxmlformats.org/drawingml/2006/main">
          <a:graphicData uri="http://schemas.openxmlformats.org/drawingml/2006/table">
            <a:tbl>
              <a:tblPr/>
              <a:tblGrid>
                <a:gridCol w="4048125"/>
                <a:gridCol w="6772275"/>
              </a:tblGrid>
              <a:tr h="590550">
                <a:tc>
                  <a:txBody>
                    <a:bodyPr/>
                    <a:lstStyle/>
                    <a:p>
                      <a:r>
                        <a:rPr sz="1650" b="1">
                          <a:solidFill>
                            <a:srgbClr val="FFFFFF"/>
                          </a:solidFill>
                          <a:latin typeface="Helvetica Neue"/>
                          <a:ea typeface="Helvetica Neue"/>
                          <a:cs typeface="Helvetica Neue"/>
                        </a:rPr>
                        <a:t>Achievement</a:t>
                      </a:r>
                    </a:p>
                  </a:txBody>
                  <a:tcPr marL="161925" marR="161925" marT="76200" marB="76200" anchor="ctr">
                    <a:solidFill>
                      <a:srgbClr val="142C38"/>
                    </a:solidFill>
                  </a:tcPr>
                </a:tc>
                <a:tc>
                  <a:txBody>
                    <a:bodyPr/>
                    <a:lstStyle/>
                    <a:p>
                      <a:r>
                        <a:rPr sz="1650" b="1">
                          <a:solidFill>
                            <a:srgbClr val="FFFFFF"/>
                          </a:solidFill>
                          <a:latin typeface="Helvetica Neue"/>
                          <a:ea typeface="Helvetica Neue"/>
                          <a:cs typeface="Helvetica Neue"/>
                        </a:rPr>
                        <a:t>Why it matters</a:t>
                      </a:r>
                    </a:p>
                  </a:txBody>
                  <a:tcPr marL="161925" marR="161925" marT="76200" marB="76200" anchor="ctr">
                    <a:solidFill>
                      <a:srgbClr val="142C38"/>
                    </a:solidFill>
                  </a:tcPr>
                </a:tc>
              </a:tr>
              <a:tr h="678656">
                <a:tc>
                  <a:txBody>
                    <a:bodyPr/>
                    <a:lstStyle/>
                    <a:p>
                      <a:r>
                        <a:rPr sz="1950" b="1">
                          <a:solidFill>
                            <a:srgbClr val="142C38"/>
                          </a:solidFill>
                          <a:latin typeface="Helvetica Neue"/>
                          <a:ea typeface="Helvetica Neue"/>
                          <a:cs typeface="Helvetica Neue"/>
                        </a:rPr>
                        <a:t>Shared connection services</a:t>
                      </a:r>
                    </a:p>
                  </a:txBody>
                  <a:tcPr marL="161925" marR="161925" marT="76200" marB="76200" anchor="ctr">
                    <a:solidFill>
                      <a:srgbClr val="FFFFFF"/>
                    </a:solidFill>
                  </a:tcPr>
                </a:tc>
                <a:tc>
                  <a:txBody>
                    <a:bodyPr/>
                    <a:lstStyle/>
                    <a:p>
                      <a:r>
                        <a:rPr sz="1950" b="0">
                          <a:solidFill>
                            <a:srgbClr val="142C38"/>
                          </a:solidFill>
                          <a:latin typeface="Helvetica Neue"/>
                          <a:ea typeface="Helvetica Neue"/>
                          <a:cs typeface="Helvetica Neue"/>
                        </a:rPr>
                        <a:t>One foundation for future tool integrations</a:t>
                      </a:r>
                    </a:p>
                  </a:txBody>
                  <a:tcPr marL="161925" marR="161925" marT="76200" marB="76200" anchor="ctr">
                    <a:solidFill>
                      <a:srgbClr val="FFFFFF"/>
                    </a:solidFill>
                  </a:tcPr>
                </a:tc>
              </a:tr>
              <a:tr h="678656">
                <a:tc>
                  <a:txBody>
                    <a:bodyPr/>
                    <a:lstStyle/>
                    <a:p>
                      <a:r>
                        <a:rPr sz="1950" b="1">
                          <a:solidFill>
                            <a:srgbClr val="142C38"/>
                          </a:solidFill>
                          <a:latin typeface="Helvetica Neue"/>
                          <a:ea typeface="Helvetica Neue"/>
                          <a:cs typeface="Helvetica Neue"/>
                        </a:rPr>
                        <a:t>Protected task records</a:t>
                      </a:r>
                    </a:p>
                  </a:txBody>
                  <a:tcPr marL="161925" marR="161925" marT="76200" marB="76200" anchor="ctr">
                    <a:solidFill>
                      <a:srgbClr val="F5F4EF"/>
                    </a:solidFill>
                  </a:tcPr>
                </a:tc>
                <a:tc>
                  <a:txBody>
                    <a:bodyPr/>
                    <a:lstStyle/>
                    <a:p>
                      <a:r>
                        <a:rPr sz="1950" b="0">
                          <a:solidFill>
                            <a:srgbClr val="142C38"/>
                          </a:solidFill>
                          <a:latin typeface="Helvetica Neue"/>
                          <a:ea typeface="Helvetica Neue"/>
                          <a:cs typeface="Helvetica Neue"/>
                        </a:rPr>
                        <a:t>Retain evidence without trusting a success message</a:t>
                      </a:r>
                    </a:p>
                  </a:txBody>
                  <a:tcPr marL="161925" marR="161925" marT="76200" marB="76200" anchor="ctr">
                    <a:solidFill>
                      <a:srgbClr val="F5F4EF"/>
                    </a:solidFill>
                  </a:tcPr>
                </a:tc>
              </a:tr>
              <a:tr h="678656">
                <a:tc>
                  <a:txBody>
                    <a:bodyPr/>
                    <a:lstStyle/>
                    <a:p>
                      <a:r>
                        <a:rPr sz="1950" b="1">
                          <a:solidFill>
                            <a:srgbClr val="142C38"/>
                          </a:solidFill>
                          <a:latin typeface="Helvetica Neue"/>
                          <a:ea typeface="Helvetica Neue"/>
                          <a:cs typeface="Helvetica Neue"/>
                        </a:rPr>
                        <a:t>Preserved copies of work</a:t>
                      </a:r>
                    </a:p>
                  </a:txBody>
                  <a:tcPr marL="161925" marR="161925" marT="76200" marB="76200" anchor="ctr">
                    <a:solidFill>
                      <a:srgbClr val="FFFFFF"/>
                    </a:solidFill>
                  </a:tcPr>
                </a:tc>
                <a:tc>
                  <a:txBody>
                    <a:bodyPr/>
                    <a:lstStyle/>
                    <a:p>
                      <a:r>
                        <a:rPr sz="1950" b="0">
                          <a:solidFill>
                            <a:srgbClr val="142C38"/>
                          </a:solidFill>
                          <a:latin typeface="Helvetica Neue"/>
                          <a:ea typeface="Helvetica Neue"/>
                          <a:cs typeface="Helvetica Neue"/>
                        </a:rPr>
                        <a:t>Later edits do not replace the captured evidence</a:t>
                      </a:r>
                    </a:p>
                  </a:txBody>
                  <a:tcPr marL="161925" marR="161925" marT="76200" marB="76200" anchor="ctr">
                    <a:solidFill>
                      <a:srgbClr val="FFFFFF"/>
                    </a:solidFill>
                  </a:tcPr>
                </a:tc>
              </a:tr>
              <a:tr h="678656">
                <a:tc>
                  <a:txBody>
                    <a:bodyPr/>
                    <a:lstStyle/>
                    <a:p>
                      <a:r>
                        <a:rPr sz="1950" b="1">
                          <a:solidFill>
                            <a:srgbClr val="142C38"/>
                          </a:solidFill>
                          <a:latin typeface="Helvetica Neue"/>
                          <a:ea typeface="Helvetica Neue"/>
                          <a:cs typeface="Helvetica Neue"/>
                        </a:rPr>
                        <a:t>Controlled execution and recovery</a:t>
                      </a:r>
                    </a:p>
                  </a:txBody>
                  <a:tcPr marL="161925" marR="161925" marT="76200" marB="76200" anchor="ctr">
                    <a:solidFill>
                      <a:srgbClr val="F5F4EF"/>
                    </a:solidFill>
                  </a:tcPr>
                </a:tc>
                <a:tc>
                  <a:txBody>
                    <a:bodyPr/>
                    <a:lstStyle/>
                    <a:p>
                      <a:r>
                        <a:rPr sz="1950" b="0">
                          <a:solidFill>
                            <a:srgbClr val="142C38"/>
                          </a:solidFill>
                          <a:latin typeface="Helvetica Neue"/>
                          <a:ea typeface="Helvetica Neue"/>
                          <a:cs typeface="Helvetica Neue"/>
                        </a:rPr>
                        <a:t>Test what happens when a job or its owner fails</a:t>
                      </a:r>
                    </a:p>
                  </a:txBody>
                  <a:tcPr marL="161925" marR="161925" marT="76200" marB="76200" anchor="ctr">
                    <a:solidFill>
                      <a:srgbClr val="F5F4EF"/>
                    </a:solidFill>
                  </a:tcPr>
                </a:tc>
              </a:tr>
            </a:tbl>
          </a:graphicData>
        </a:graphic>
      </p:graphicFrame>
      <p:sp>
        <p:nvSpPr>
          <p:cNvPr id="4" name="">
            <a:extLst xmlns:a="http://schemas.openxmlformats.org/drawingml/2006/main">
              <a:ext uri="{FF2B5EF4-FFF2-40B4-BE49-F238E27FC236}">
                <a16:creationId xmlns:a16="http://schemas.microsoft.com/office/drawing/2014/main" id="{3199B69A-3197-4727-8733-D80E448E8088}"/>
              </a:ext>
            </a:extLst>
          </p:cNvPr>
          <p:cNvSpPr>
            <a:spLocks xmlns:a="http://schemas.openxmlformats.org/drawingml/2006/main" noGrp="1"/>
          </p:cNvSpPr>
          <p:nvPr/>
        </p:nvSpPr>
        <p:spPr>
          <a:xfrm xmlns:a="http://schemas.openxmlformats.org/drawingml/2006/main">
            <a:off x="685800" y="62579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36672"/>
                </a:solidFill>
                <a:latin typeface="Helvetica Neue"/>
                <a:ea typeface="Helvetica Neue"/>
                <a:cs typeface="Helvetica Neue"/>
              </a:defRPr>
            </a:pPr>
            <a:r>
              <a:rPr sz="1425" b="0">
                <a:solidFill>
                  <a:srgbClr val="536672"/>
                </a:solidFill>
                <a:latin typeface="Helvetica Neue"/>
                <a:ea typeface="Helvetica Neue"/>
                <a:cs typeface="Helvetica Neue"/>
              </a:rPr>
              <a:t>Working local prototype. A complete customer workflow still needs qualification.</a:t>
            </a:r>
          </a:p>
        </p:txBody>
      </p:sp>
    </p:spTree>
    <p:extLst>
      <p:ext uri="{BB962C8B-B14F-4D97-AF65-F5344CB8AC3E}">
        <p14:creationId xmlns:p14="http://schemas.microsoft.com/office/powerpoint/2010/main" val="838955076"/>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302673-ED77-4C7A-B939-4847C55FBD0D}"/>
              </a:ext>
            </a:extLst>
          </p:cNvPr>
          <p:cNvSpPr>
            <a:spLocks xmlns:a="http://schemas.openxmlformats.org/drawingml/2006/main" noGrp="1"/>
          </p:cNvSpPr>
          <p:nvPr/>
        </p:nvSpPr>
        <p:spPr>
          <a:xfrm xmlns:a="http://schemas.openxmlformats.org/drawingml/2006/main">
            <a:off x="666750" y="504825"/>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38"/>
                </a:solidFill>
                <a:latin typeface="Helvetica Neue"/>
                <a:ea typeface="Helvetica Neue"/>
                <a:cs typeface="Helvetica Neue"/>
              </a:defRPr>
            </a:pPr>
            <a:r>
              <a:rPr sz="3450" b="1">
                <a:solidFill>
                  <a:srgbClr val="142C38"/>
                </a:solidFill>
                <a:latin typeface="Helvetica Neue"/>
                <a:ea typeface="Helvetica Neue"/>
                <a:cs typeface="Helvetica Neue"/>
              </a:rPr>
              <a:t>A real Claude Code task, observed and checked</a:t>
            </a:r>
          </a:p>
        </p:txBody>
      </p:sp>
      <p:sp>
        <p:nvSpPr>
          <p:cNvPr id="2" name="">
            <a:extLst xmlns:a="http://schemas.openxmlformats.org/drawingml/2006/main">
              <a:ext uri="{FF2B5EF4-FFF2-40B4-BE49-F238E27FC236}">
                <a16:creationId xmlns:a16="http://schemas.microsoft.com/office/drawing/2014/main" id="{1C25F16A-AD0A-48BC-8A32-E684F8E5CC57}"/>
              </a:ext>
            </a:extLst>
          </p:cNvPr>
          <p:cNvSpPr>
            <a:spLocks xmlns:a="http://schemas.openxmlformats.org/drawingml/2006/main" noGrp="1"/>
          </p:cNvSpPr>
          <p:nvPr/>
        </p:nvSpPr>
        <p:spPr>
          <a:xfrm xmlns:a="http://schemas.openxmlformats.org/drawingml/2006/main">
            <a:off x="685800" y="16764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536672"/>
                </a:solidFill>
                <a:latin typeface="Helvetica Neue"/>
                <a:ea typeface="Helvetica Neue"/>
                <a:cs typeface="Helvetica Neue"/>
              </a:defRPr>
            </a:pPr>
            <a:r>
              <a:rPr sz="2025" b="0">
                <a:solidFill>
                  <a:srgbClr val="536672"/>
                </a:solidFill>
                <a:latin typeface="Helvetica Neue"/>
                <a:ea typeface="Helvetica Neue"/>
                <a:cs typeface="Helvetica Neue"/>
              </a:rPr>
              <a:t>A small bug-fixing exercise used the existing subscription</a:t>
            </a:r>
          </a:p>
        </p:txBody>
      </p:sp>
      <p:sp>
        <p:nvSpPr>
          <p:cNvPr id="3" name="">
            <a:extLst xmlns:a="http://schemas.openxmlformats.org/drawingml/2006/main">
              <a:ext uri="{FF2B5EF4-FFF2-40B4-BE49-F238E27FC236}">
                <a16:creationId xmlns:a16="http://schemas.microsoft.com/office/drawing/2014/main" id="{DFC93863-5728-4568-8271-B028A16A987D}"/>
              </a:ext>
            </a:extLst>
          </p:cNvPr>
          <p:cNvSpPr>
            <a:spLocks xmlns:a="http://schemas.openxmlformats.org/drawingml/2006/main" noGrp="1"/>
          </p:cNvSpPr>
          <p:nvPr/>
        </p:nvSpPr>
        <p:spPr>
          <a:xfrm xmlns:a="http://schemas.openxmlformats.org/drawingml/2006/main">
            <a:off x="695325" y="2733675"/>
            <a:ext cx="4667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900" b="1">
                <a:solidFill>
                  <a:srgbClr val="087E80"/>
                </a:solidFill>
                <a:latin typeface="Helvetica Neue"/>
                <a:ea typeface="Helvetica Neue"/>
                <a:cs typeface="Helvetica Neue"/>
              </a:defRPr>
            </a:pPr>
            <a:r>
              <a:rPr sz="6900" b="1">
                <a:solidFill>
                  <a:srgbClr val="087E80"/>
                </a:solidFill>
                <a:latin typeface="Helvetica Neue"/>
                <a:ea typeface="Helvetica Neue"/>
                <a:cs typeface="Helvetica Neue"/>
              </a:rPr>
              <a:t>18 / 18</a:t>
            </a:r>
          </a:p>
        </p:txBody>
      </p:sp>
      <p:sp>
        <p:nvSpPr>
          <p:cNvPr id="4" name="">
            <a:extLst xmlns:a="http://schemas.openxmlformats.org/drawingml/2006/main">
              <a:ext uri="{FF2B5EF4-FFF2-40B4-BE49-F238E27FC236}">
                <a16:creationId xmlns:a16="http://schemas.microsoft.com/office/drawing/2014/main" id="{22FD225E-E7E3-4910-B42A-6B9EDCA5411B}"/>
              </a:ext>
            </a:extLst>
          </p:cNvPr>
          <p:cNvSpPr>
            <a:spLocks xmlns:a="http://schemas.openxmlformats.org/drawingml/2006/main" noGrp="1"/>
          </p:cNvSpPr>
          <p:nvPr/>
        </p:nvSpPr>
        <p:spPr>
          <a:xfrm xmlns:a="http://schemas.openxmlformats.org/drawingml/2006/main">
            <a:off x="752475" y="3962400"/>
            <a:ext cx="4552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C38"/>
                </a:solidFill>
                <a:latin typeface="Helvetica Neue"/>
                <a:ea typeface="Helvetica Neue"/>
                <a:cs typeface="Helvetica Neue"/>
              </a:defRPr>
            </a:pPr>
            <a:r>
              <a:rPr sz="2250" b="0">
                <a:solidFill>
                  <a:srgbClr val="142C38"/>
                </a:solidFill>
                <a:latin typeface="Helvetica Neue"/>
                <a:ea typeface="Helvetica Neue"/>
                <a:cs typeface="Helvetica Neue"/>
              </a:rPr>
              <a:t>recorded tool actions matched</a:t>
            </a:r>
          </a:p>
          <a:p xmlns:a="http://schemas.openxmlformats.org/drawingml/2006/main">
            <a:pPr>
              <a:defRPr sz="2250" b="0">
                <a:solidFill>
                  <a:srgbClr val="142C38"/>
                </a:solidFill>
                <a:latin typeface="Helvetica Neue"/>
                <a:ea typeface="Helvetica Neue"/>
                <a:cs typeface="Helvetica Neue"/>
              </a:defRPr>
            </a:pPr>
            <a:r>
              <a:rPr sz="2250" b="0">
                <a:solidFill>
                  <a:srgbClr val="142C38"/>
                </a:solidFill>
                <a:latin typeface="Helvetica Neue"/>
                <a:ea typeface="Helvetica Neue"/>
                <a:cs typeface="Helvetica Neue"/>
              </a:rPr>
              <a:t>the checked session trace</a:t>
            </a:r>
          </a:p>
        </p:txBody>
      </p:sp>
      <p:sp>
        <p:nvSpPr>
          <p:cNvPr id="5" name="">
            <a:extLst xmlns:a="http://schemas.openxmlformats.org/drawingml/2006/main">
              <a:ext uri="{FF2B5EF4-FFF2-40B4-BE49-F238E27FC236}">
                <a16:creationId xmlns:a16="http://schemas.microsoft.com/office/drawing/2014/main" id="{5330619E-CC13-4A5F-860E-41FB9082D2F3}"/>
              </a:ext>
            </a:extLst>
          </p:cNvPr>
          <p:cNvSpPr>
            <a:spLocks xmlns:a="http://schemas.openxmlformats.org/drawingml/2006/main" noGrp="1"/>
          </p:cNvSpPr>
          <p:nvPr/>
        </p:nvSpPr>
        <p:spPr>
          <a:xfrm xmlns:a="http://schemas.openxmlformats.org/drawingml/2006/main">
            <a:off x="6229350" y="27622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C38"/>
                </a:solidFill>
                <a:latin typeface="Helvetica Neue"/>
                <a:ea typeface="Helvetica Neue"/>
                <a:cs typeface="Helvetica Neue"/>
              </a:defRPr>
            </a:pPr>
            <a:r>
              <a:rPr sz="2250" b="0">
                <a:solidFill>
                  <a:srgbClr val="142C38"/>
                </a:solidFill>
                <a:latin typeface="Helvetica Neue"/>
                <a:ea typeface="Helvetica Neue"/>
                <a:cs typeface="Helvetica Neue"/>
              </a:rPr>
              <a:t>The first repair passed the old tests.</a:t>
            </a:r>
          </a:p>
          <a:p xmlns:a="http://schemas.openxmlformats.org/drawingml/2006/main">
            <a:pPr>
              <a:defRPr sz="2250" b="0">
                <a:solidFill>
                  <a:srgbClr val="142C38"/>
                </a:solidFill>
                <a:latin typeface="Helvetica Neue"/>
                <a:ea typeface="Helvetica Neue"/>
                <a:cs typeface="Helvetica Neue"/>
              </a:defRPr>
            </a:pPr>
            <a:r>
              <a:rPr sz="2250" b="0">
                <a:solidFill>
                  <a:srgbClr val="142C38"/>
                </a:solidFill>
                <a:latin typeface="Helvetica Neue"/>
                <a:ea typeface="Helvetica Neue"/>
                <a:cs typeface="Helvetica Neue"/>
              </a:rPr>
              <a:t>Separate checks found a compatibility problem.</a:t>
            </a:r>
          </a:p>
        </p:txBody>
      </p:sp>
      <p:sp>
        <p:nvSpPr>
          <p:cNvPr id="6" name="">
            <a:extLst xmlns:a="http://schemas.openxmlformats.org/drawingml/2006/main">
              <a:ext uri="{FF2B5EF4-FFF2-40B4-BE49-F238E27FC236}">
                <a16:creationId xmlns:a16="http://schemas.microsoft.com/office/drawing/2014/main" id="{D2CD88E3-D2F5-4260-B15B-A3B6AC5A2500}"/>
              </a:ext>
            </a:extLst>
          </p:cNvPr>
          <p:cNvSpPr>
            <a:spLocks xmlns:a="http://schemas.openxmlformats.org/drawingml/2006/main" noGrp="1"/>
          </p:cNvSpPr>
          <p:nvPr/>
        </p:nvSpPr>
        <p:spPr>
          <a:xfrm xmlns:a="http://schemas.openxmlformats.org/drawingml/2006/main">
            <a:off x="6229350" y="429577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87E80"/>
                </a:solidFill>
                <a:latin typeface="Helvetica Neue"/>
                <a:ea typeface="Helvetica Neue"/>
                <a:cs typeface="Helvetica Neue"/>
              </a:defRPr>
            </a:pPr>
            <a:r>
              <a:rPr sz="2250" b="1">
                <a:solidFill>
                  <a:srgbClr val="087E80"/>
                </a:solidFill>
                <a:latin typeface="Helvetica Neue"/>
                <a:ea typeface="Helvetica Neue"/>
                <a:cs typeface="Helvetica Neue"/>
              </a:rPr>
              <a:t>The corrected repair then passed</a:t>
            </a:r>
          </a:p>
          <a:p xmlns:a="http://schemas.openxmlformats.org/drawingml/2006/main">
            <a:pPr>
              <a:defRPr sz="2250" b="1">
                <a:solidFill>
                  <a:srgbClr val="087E80"/>
                </a:solidFill>
                <a:latin typeface="Helvetica Neue"/>
                <a:ea typeface="Helvetica Neue"/>
                <a:cs typeface="Helvetica Neue"/>
              </a:defRPr>
            </a:pPr>
            <a:r>
              <a:rPr sz="2250" b="1">
                <a:solidFill>
                  <a:srgbClr val="087E80"/>
                </a:solidFill>
                <a:latin typeface="Helvetica Neue"/>
                <a:ea typeface="Helvetica Neue"/>
                <a:cs typeface="Helvetica Neue"/>
              </a:rPr>
              <a:t>all eight checks.</a:t>
            </a:r>
          </a:p>
        </p:txBody>
      </p:sp>
      <p:sp>
        <p:nvSpPr>
          <p:cNvPr id="7" name="">
            <a:extLst xmlns:a="http://schemas.openxmlformats.org/drawingml/2006/main">
              <a:ext uri="{FF2B5EF4-FFF2-40B4-BE49-F238E27FC236}">
                <a16:creationId xmlns:a16="http://schemas.microsoft.com/office/drawing/2014/main" id="{CA900C37-BEBD-4FF9-8E73-9AC0A3F0A40A}"/>
              </a:ext>
            </a:extLst>
          </p:cNvPr>
          <p:cNvSpPr>
            <a:spLocks xmlns:a="http://schemas.openxmlformats.org/drawingml/2006/main" noGrp="1"/>
          </p:cNvSpPr>
          <p:nvPr/>
        </p:nvSpPr>
        <p:spPr>
          <a:xfrm xmlns:a="http://schemas.openxmlformats.org/drawingml/2006/main">
            <a:off x="685800" y="62579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36672"/>
                </a:solidFill>
                <a:latin typeface="Helvetica Neue"/>
                <a:ea typeface="Helvetica Neue"/>
                <a:cs typeface="Helvetica Neue"/>
              </a:defRPr>
            </a:pPr>
            <a:r>
              <a:rPr sz="1425" b="0">
                <a:solidFill>
                  <a:srgbClr val="536672"/>
                </a:solidFill>
                <a:latin typeface="Helvetica Neue"/>
                <a:ea typeface="Helvetica Neue"/>
                <a:cs typeface="Helvetica Neue"/>
              </a:rPr>
              <a:t>One task family. ADRL observed the work, without routing its model requests.</a:t>
            </a:r>
          </a:p>
        </p:txBody>
      </p:sp>
    </p:spTree>
    <p:extLst>
      <p:ext uri="{BB962C8B-B14F-4D97-AF65-F5344CB8AC3E}">
        <p14:creationId xmlns:p14="http://schemas.microsoft.com/office/powerpoint/2010/main" val="463007996"/>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654C62-6F57-44E6-A0A3-0FA5F93A7616}"/>
              </a:ext>
            </a:extLst>
          </p:cNvPr>
          <p:cNvSpPr>
            <a:spLocks xmlns:a="http://schemas.openxmlformats.org/drawingml/2006/main" noGrp="1"/>
          </p:cNvSpPr>
          <p:nvPr/>
        </p:nvSpPr>
        <p:spPr>
          <a:xfrm xmlns:a="http://schemas.openxmlformats.org/drawingml/2006/main">
            <a:off x="666750" y="504825"/>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38"/>
                </a:solidFill>
                <a:latin typeface="Helvetica Neue"/>
                <a:ea typeface="Helvetica Neue"/>
                <a:cs typeface="Helvetica Neue"/>
              </a:defRPr>
            </a:pPr>
            <a:r>
              <a:rPr sz="3450" b="1">
                <a:solidFill>
                  <a:srgbClr val="142C38"/>
                </a:solidFill>
                <a:latin typeface="Helvetica Neue"/>
                <a:ea typeface="Helvetica Neue"/>
                <a:cs typeface="Helvetica Neue"/>
              </a:rPr>
              <a:t>We can compare better ways to check work</a:t>
            </a:r>
          </a:p>
        </p:txBody>
      </p:sp>
      <p:sp>
        <p:nvSpPr>
          <p:cNvPr id="2" name="">
            <a:extLst xmlns:a="http://schemas.openxmlformats.org/drawingml/2006/main">
              <a:ext uri="{FF2B5EF4-FFF2-40B4-BE49-F238E27FC236}">
                <a16:creationId xmlns:a16="http://schemas.microsoft.com/office/drawing/2014/main" id="{3808AF63-3EB6-405E-9709-F2AD1E4389CB}"/>
              </a:ext>
            </a:extLst>
          </p:cNvPr>
          <p:cNvSpPr>
            <a:spLocks xmlns:a="http://schemas.openxmlformats.org/drawingml/2006/main" noGrp="1"/>
          </p:cNvSpPr>
          <p:nvPr/>
        </p:nvSpPr>
        <p:spPr>
          <a:xfrm xmlns:a="http://schemas.openxmlformats.org/drawingml/2006/main">
            <a:off x="685800" y="16764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536672"/>
                </a:solidFill>
                <a:latin typeface="Helvetica Neue"/>
                <a:ea typeface="Helvetica Neue"/>
                <a:cs typeface="Helvetica Neue"/>
              </a:defRPr>
            </a:pPr>
            <a:r>
              <a:rPr sz="2025" b="0">
                <a:solidFill>
                  <a:srgbClr val="536672"/>
                </a:solidFill>
                <a:latin typeface="Helvetica Neue"/>
                <a:ea typeface="Helvetica Neue"/>
                <a:cs typeface="Helvetica Neue"/>
              </a:rPr>
              <a:t>Correct classifications on seven prepared examples</a:t>
            </a:r>
          </a:p>
        </p:txBody>
      </p:sp>
      <p:graphicFrame>
        <p:nvGraphicFramePr>
          <p:cNvPr id="9" name="Chart"/>
          <p:cNvGraphicFramePr/>
          <p:nvPr/>
        </p:nvGraphicFramePr>
        <p:xfrm>
          <a:off xmlns:a="http://schemas.openxmlformats.org/drawingml/2006/main" x="695325" y="2667000"/>
          <a:ext xmlns:a="http://schemas.openxmlformats.org/drawingml/2006/main" cx="6191250" cy="2990850"/>
        </p:xfrm>
        <a:graphic xmlns:a="http://schemas.openxmlformats.org/drawingml/2006/main">
          <a:graphicData uri="http://schemas.openxmlformats.org/drawingml/2006/chart">
            <c:chart xmlns:r="http://schemas.openxmlformats.org/officeDocument/2006/relationships" xmlns:c="http://schemas.openxmlformats.org/drawingml/2006/chart" r:id="Rf0b5c18179a246da"/>
          </a:graphicData>
        </a:graphic>
      </p:graphicFrame>
      <p:sp>
        <p:nvSpPr>
          <p:cNvPr id="4" name="">
            <a:extLst xmlns:a="http://schemas.openxmlformats.org/drawingml/2006/main">
              <a:ext uri="{FF2B5EF4-FFF2-40B4-BE49-F238E27FC236}">
                <a16:creationId xmlns:a16="http://schemas.microsoft.com/office/drawing/2014/main" id="{07D699F6-6901-419B-8D58-2C46C8D85604}"/>
              </a:ext>
            </a:extLst>
          </p:cNvPr>
          <p:cNvSpPr>
            <a:spLocks xmlns:a="http://schemas.openxmlformats.org/drawingml/2006/main" noGrp="1"/>
          </p:cNvSpPr>
          <p:nvPr/>
        </p:nvSpPr>
        <p:spPr>
          <a:xfrm xmlns:a="http://schemas.openxmlformats.org/drawingml/2006/main">
            <a:off x="7648575" y="2771775"/>
            <a:ext cx="37242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087E80"/>
                </a:solidFill>
                <a:latin typeface="Helvetica Neue"/>
                <a:ea typeface="Helvetica Neue"/>
                <a:cs typeface="Helvetica Neue"/>
              </a:defRPr>
            </a:pPr>
            <a:r>
              <a:rPr sz="2700" b="1">
                <a:solidFill>
                  <a:srgbClr val="087E80"/>
                </a:solidFill>
                <a:latin typeface="Helvetica Neue"/>
                <a:ea typeface="Helvetica Neue"/>
                <a:cs typeface="Helvetica Neue"/>
              </a:rPr>
              <a:t>Three missed defects</a:t>
            </a:r>
          </a:p>
          <a:p xmlns:a="http://schemas.openxmlformats.org/drawingml/2006/main">
            <a:pPr>
              <a:defRPr sz="2700" b="1">
                <a:solidFill>
                  <a:srgbClr val="087E80"/>
                </a:solidFill>
                <a:latin typeface="Helvetica Neue"/>
                <a:ea typeface="Helvetica Neue"/>
                <a:cs typeface="Helvetica Neue"/>
              </a:defRPr>
            </a:pPr>
            <a:r>
              <a:rPr sz="2700" b="1">
                <a:solidFill>
                  <a:srgbClr val="087E80"/>
                </a:solidFill>
                <a:latin typeface="Helvetica Neue"/>
                <a:ea typeface="Helvetica Neue"/>
                <a:cs typeface="Helvetica Neue"/>
              </a:rPr>
              <a:t>became visible</a:t>
            </a:r>
          </a:p>
        </p:txBody>
      </p:sp>
      <p:sp>
        <p:nvSpPr>
          <p:cNvPr id="5" name="">
            <a:extLst xmlns:a="http://schemas.openxmlformats.org/drawingml/2006/main">
              <a:ext uri="{FF2B5EF4-FFF2-40B4-BE49-F238E27FC236}">
                <a16:creationId xmlns:a16="http://schemas.microsoft.com/office/drawing/2014/main" id="{3E58BC6F-E316-412E-BA09-02577E8014A5}"/>
              </a:ext>
            </a:extLst>
          </p:cNvPr>
          <p:cNvSpPr>
            <a:spLocks xmlns:a="http://schemas.openxmlformats.org/drawingml/2006/main" noGrp="1"/>
          </p:cNvSpPr>
          <p:nvPr/>
        </p:nvSpPr>
        <p:spPr>
          <a:xfrm xmlns:a="http://schemas.openxmlformats.org/drawingml/2006/main">
            <a:off x="7648575" y="4152900"/>
            <a:ext cx="37909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C38"/>
                </a:solidFill>
                <a:latin typeface="Helvetica Neue"/>
                <a:ea typeface="Helvetica Neue"/>
                <a:cs typeface="Helvetica Neue"/>
              </a:defRPr>
            </a:pPr>
            <a:r>
              <a:rPr sz="2025" b="0">
                <a:solidFill>
                  <a:srgbClr val="142C38"/>
                </a:solidFill>
                <a:latin typeface="Helvetica Neue"/>
                <a:ea typeface="Helvetica Neue"/>
                <a:cs typeface="Helvetica Neue"/>
              </a:rPr>
              <a:t>The comparison process works.</a:t>
            </a:r>
          </a:p>
          <a:p xmlns:a="http://schemas.openxmlformats.org/drawingml/2006/main">
            <a:pPr>
              <a:defRPr sz="2025" b="0">
                <a:solidFill>
                  <a:srgbClr val="142C38"/>
                </a:solidFill>
                <a:latin typeface="Helvetica Neue"/>
                <a:ea typeface="Helvetica Neue"/>
                <a:cs typeface="Helvetica Neue"/>
              </a:defRPr>
            </a:pPr>
            <a:r>
              <a:rPr sz="2025" b="0">
                <a:solidFill>
                  <a:srgbClr val="142C38"/>
                </a:solidFill>
                <a:latin typeface="Helvetica Neue"/>
                <a:ea typeface="Helvetica Neue"/>
                <a:cs typeface="Helvetica Neue"/>
              </a:rPr>
              <a:t>Fresh, independently reviewed</a:t>
            </a:r>
          </a:p>
          <a:p xmlns:a="http://schemas.openxmlformats.org/drawingml/2006/main">
            <a:pPr>
              <a:defRPr sz="2025" b="0">
                <a:solidFill>
                  <a:srgbClr val="142C38"/>
                </a:solidFill>
                <a:latin typeface="Helvetica Neue"/>
                <a:ea typeface="Helvetica Neue"/>
                <a:cs typeface="Helvetica Neue"/>
              </a:defRPr>
            </a:pPr>
            <a:r>
              <a:rPr sz="2025" b="0">
                <a:solidFill>
                  <a:srgbClr val="142C38"/>
                </a:solidFill>
                <a:latin typeface="Helvetica Neue"/>
                <a:ea typeface="Helvetica Neue"/>
                <a:cs typeface="Helvetica Neue"/>
              </a:rPr>
              <a:t>examples must test the benefit.</a:t>
            </a:r>
          </a:p>
        </p:txBody>
      </p:sp>
      <p:sp>
        <p:nvSpPr>
          <p:cNvPr id="6" name="">
            <a:extLst xmlns:a="http://schemas.openxmlformats.org/drawingml/2006/main">
              <a:ext uri="{FF2B5EF4-FFF2-40B4-BE49-F238E27FC236}">
                <a16:creationId xmlns:a16="http://schemas.microsoft.com/office/drawing/2014/main" id="{B6BB408C-93E4-4CC5-B75F-6DCE905B2CB9}"/>
              </a:ext>
            </a:extLst>
          </p:cNvPr>
          <p:cNvSpPr>
            <a:spLocks xmlns:a="http://schemas.openxmlformats.org/drawingml/2006/main" noGrp="1"/>
          </p:cNvSpPr>
          <p:nvPr/>
        </p:nvSpPr>
        <p:spPr>
          <a:xfrm xmlns:a="http://schemas.openxmlformats.org/drawingml/2006/main">
            <a:off x="685800" y="62579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36672"/>
                </a:solidFill>
                <a:latin typeface="Helvetica Neue"/>
                <a:ea typeface="Helvetica Neue"/>
                <a:cs typeface="Helvetica Neue"/>
              </a:defRPr>
            </a:pPr>
            <a:r>
              <a:rPr sz="1425" b="0">
                <a:solidFill>
                  <a:srgbClr val="536672"/>
                </a:solidFill>
                <a:latin typeface="Helvetica Neue"/>
                <a:ea typeface="Helvetica Neue"/>
                <a:cs typeface="Helvetica Neue"/>
              </a:rPr>
              <a:t>Seven visible variants of one task. These results are not a general accuracy estimate.</a:t>
            </a:r>
          </a:p>
        </p:txBody>
      </p:sp>
    </p:spTree>
    <p:extLst>
      <p:ext uri="{BB962C8B-B14F-4D97-AF65-F5344CB8AC3E}">
        <p14:creationId xmlns:p14="http://schemas.microsoft.com/office/powerpoint/2010/main" val="1101005775"/>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75B25F-7AB8-49EF-89B7-6120E0A370D3}"/>
              </a:ext>
            </a:extLst>
          </p:cNvPr>
          <p:cNvSpPr>
            <a:spLocks xmlns:a="http://schemas.openxmlformats.org/drawingml/2006/main" noGrp="1"/>
          </p:cNvSpPr>
          <p:nvPr/>
        </p:nvSpPr>
        <p:spPr>
          <a:xfrm xmlns:a="http://schemas.openxmlformats.org/drawingml/2006/main">
            <a:off x="666750" y="504825"/>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38"/>
                </a:solidFill>
                <a:latin typeface="Helvetica Neue"/>
                <a:ea typeface="Helvetica Neue"/>
                <a:cs typeface="Helvetica Neue"/>
              </a:defRPr>
            </a:pPr>
            <a:r>
              <a:rPr sz="3450" b="1">
                <a:solidFill>
                  <a:srgbClr val="142C38"/>
                </a:solidFill>
                <a:latin typeface="Helvetica Neue"/>
                <a:ea typeface="Helvetica Neue"/>
                <a:cs typeface="Helvetica Neue"/>
              </a:rPr>
              <a:t>Recovery now passes the controlled job tests</a:t>
            </a:r>
          </a:p>
        </p:txBody>
      </p:sp>
      <p:sp>
        <p:nvSpPr>
          <p:cNvPr id="2" name="">
            <a:extLst xmlns:a="http://schemas.openxmlformats.org/drawingml/2006/main">
              <a:ext uri="{FF2B5EF4-FFF2-40B4-BE49-F238E27FC236}">
                <a16:creationId xmlns:a16="http://schemas.microsoft.com/office/drawing/2014/main" id="{0A6E361B-3A43-4F5E-BECA-46109528A44B}"/>
              </a:ext>
            </a:extLst>
          </p:cNvPr>
          <p:cNvSpPr>
            <a:spLocks xmlns:a="http://schemas.openxmlformats.org/drawingml/2006/main" noGrp="1"/>
          </p:cNvSpPr>
          <p:nvPr/>
        </p:nvSpPr>
        <p:spPr>
          <a:xfrm xmlns:a="http://schemas.openxmlformats.org/drawingml/2006/main">
            <a:off x="685800" y="16764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536672"/>
                </a:solidFill>
                <a:latin typeface="Helvetica Neue"/>
                <a:ea typeface="Helvetica Neue"/>
                <a:cs typeface="Helvetica Neue"/>
              </a:defRPr>
            </a:pPr>
            <a:r>
              <a:rPr sz="2025" b="0">
                <a:solidFill>
                  <a:srgbClr val="536672"/>
                </a:solidFill>
                <a:latin typeface="Helvetica Neue"/>
                <a:ea typeface="Helvetica Neue"/>
                <a:cs typeface="Helvetica Neue"/>
              </a:rPr>
              <a:t>The latest work proves a narrow execution lifecycle on the local engine</a:t>
            </a:r>
          </a:p>
        </p:txBody>
      </p:sp>
      <p:graphicFrame>
        <p:nvGraphicFramePr>
          <p:cNvPr id="7" name=""/>
          <p:cNvGraphicFramePr/>
          <p:nvPr/>
        </p:nvGraphicFramePr>
        <p:xfrm>
          <a:off xmlns:a="http://schemas.openxmlformats.org/drawingml/2006/main" x="685800" y="2381250"/>
          <a:ext xmlns:a="http://schemas.openxmlformats.org/drawingml/2006/main" cx="10820400" cy="3333750"/>
        </p:xfrm>
        <a:graphic xmlns:a="http://schemas.openxmlformats.org/drawingml/2006/main">
          <a:graphicData uri="http://schemas.openxmlformats.org/drawingml/2006/table">
            <a:tbl>
              <a:tblPr/>
              <a:tblGrid>
                <a:gridCol w="4076700"/>
                <a:gridCol w="6743700"/>
              </a:tblGrid>
              <a:tr h="590550">
                <a:tc>
                  <a:txBody>
                    <a:bodyPr/>
                    <a:lstStyle/>
                    <a:p>
                      <a:r>
                        <a:rPr sz="1650" b="1">
                          <a:solidFill>
                            <a:srgbClr val="FFFFFF"/>
                          </a:solidFill>
                          <a:latin typeface="Helvetica Neue"/>
                          <a:ea typeface="Helvetica Neue"/>
                          <a:cs typeface="Helvetica Neue"/>
                        </a:rPr>
                        <a:t>When this happens</a:t>
                      </a:r>
                    </a:p>
                  </a:txBody>
                  <a:tcPr marL="161925" marR="161925" marT="76200" marB="76200" anchor="ctr">
                    <a:solidFill>
                      <a:srgbClr val="142C38"/>
                    </a:solidFill>
                  </a:tcPr>
                </a:tc>
                <a:tc>
                  <a:txBody>
                    <a:bodyPr/>
                    <a:lstStyle/>
                    <a:p>
                      <a:r>
                        <a:rPr sz="1650" b="1">
                          <a:solidFill>
                            <a:srgbClr val="FFFFFF"/>
                          </a:solidFill>
                          <a:latin typeface="Helvetica Neue"/>
                          <a:ea typeface="Helvetica Neue"/>
                          <a:cs typeface="Helvetica Neue"/>
                        </a:rPr>
                        <a:t>Observed behavior in the test</a:t>
                      </a:r>
                    </a:p>
                  </a:txBody>
                  <a:tcPr marL="161925" marR="161925" marT="76200" marB="76200" anchor="ctr">
                    <a:solidFill>
                      <a:srgbClr val="142C38"/>
                    </a:solidFill>
                  </a:tcPr>
                </a:tc>
              </a:tr>
              <a:tr h="685800">
                <a:tc>
                  <a:txBody>
                    <a:bodyPr/>
                    <a:lstStyle/>
                    <a:p>
                      <a:r>
                        <a:rPr sz="1875" b="1">
                          <a:solidFill>
                            <a:srgbClr val="142C38"/>
                          </a:solidFill>
                          <a:latin typeface="Helvetica Neue"/>
                          <a:ea typeface="Helvetica Neue"/>
                          <a:cs typeface="Helvetica Neue"/>
                        </a:rPr>
                        <a:t>A normal job finishes</a:t>
                      </a:r>
                    </a:p>
                  </a:txBody>
                  <a:tcPr marL="161925" marR="161925" marT="76200" marB="76200" anchor="ctr">
                    <a:solidFill>
                      <a:srgbClr val="FFFFFF"/>
                    </a:solidFill>
                  </a:tcPr>
                </a:tc>
                <a:tc>
                  <a:txBody>
                    <a:bodyPr/>
                    <a:lstStyle/>
                    <a:p>
                      <a:r>
                        <a:rPr sz="1875" b="0">
                          <a:solidFill>
                            <a:srgbClr val="142C38"/>
                          </a:solidFill>
                          <a:latin typeface="Helvetica Neue"/>
                          <a:ea typeface="Helvetica Neue"/>
                          <a:cs typeface="Helvetica Neue"/>
                        </a:rPr>
                        <a:t>Stop the job, retain its identity, then clean up</a:t>
                      </a:r>
                    </a:p>
                  </a:txBody>
                  <a:tcPr marL="161925" marR="161925" marT="76200" marB="76200" anchor="ctr">
                    <a:solidFill>
                      <a:srgbClr val="FFFFFF"/>
                    </a:solidFill>
                  </a:tcPr>
                </a:tc>
              </a:tr>
              <a:tr h="685800">
                <a:tc>
                  <a:txBody>
                    <a:bodyPr/>
                    <a:lstStyle/>
                    <a:p>
                      <a:r>
                        <a:rPr sz="1875" b="1">
                          <a:solidFill>
                            <a:srgbClr val="142C38"/>
                          </a:solidFill>
                          <a:latin typeface="Helvetica Neue"/>
                          <a:ea typeface="Helvetica Neue"/>
                          <a:cs typeface="Helvetica Neue"/>
                        </a:rPr>
                        <a:t>A start confirmation disappears</a:t>
                      </a:r>
                    </a:p>
                  </a:txBody>
                  <a:tcPr marL="161925" marR="161925" marT="76200" marB="76200" anchor="ctr">
                    <a:solidFill>
                      <a:srgbClr val="F5F4EF"/>
                    </a:solidFill>
                  </a:tcPr>
                </a:tc>
                <a:tc>
                  <a:txBody>
                    <a:bodyPr/>
                    <a:lstStyle/>
                    <a:p>
                      <a:r>
                        <a:rPr sz="1875" b="0">
                          <a:solidFill>
                            <a:srgbClr val="142C38"/>
                          </a:solidFill>
                          <a:latin typeface="Helvetica Neue"/>
                          <a:ea typeface="Helvetica Neue"/>
                          <a:cs typeface="Helvetica Neue"/>
                        </a:rPr>
                        <a:t>Avoid a second launch and recover the owned job</a:t>
                      </a:r>
                    </a:p>
                  </a:txBody>
                  <a:tcPr marL="161925" marR="161925" marT="76200" marB="76200" anchor="ctr">
                    <a:solidFill>
                      <a:srgbClr val="F5F4EF"/>
                    </a:solidFill>
                  </a:tcPr>
                </a:tc>
              </a:tr>
              <a:tr h="685800">
                <a:tc>
                  <a:txBody>
                    <a:bodyPr/>
                    <a:lstStyle/>
                    <a:p>
                      <a:r>
                        <a:rPr sz="1875" b="1">
                          <a:solidFill>
                            <a:srgbClr val="142C38"/>
                          </a:solidFill>
                          <a:latin typeface="Helvetica Neue"/>
                          <a:ea typeface="Helvetica Neue"/>
                          <a:cs typeface="Helvetica Neue"/>
                        </a:rPr>
                        <a:t>Access is revoked during work</a:t>
                      </a:r>
                    </a:p>
                  </a:txBody>
                  <a:tcPr marL="161925" marR="161925" marT="76200" marB="76200" anchor="ctr">
                    <a:solidFill>
                      <a:srgbClr val="FFFFFF"/>
                    </a:solidFill>
                  </a:tcPr>
                </a:tc>
                <a:tc>
                  <a:txBody>
                    <a:bodyPr/>
                    <a:lstStyle/>
                    <a:p>
                      <a:r>
                        <a:rPr sz="1875" b="0">
                          <a:solidFill>
                            <a:srgbClr val="142C38"/>
                          </a:solidFill>
                          <a:latin typeface="Helvetica Neue"/>
                          <a:ea typeface="Helvetica Neue"/>
                          <a:cs typeface="Helvetica Neue"/>
                        </a:rPr>
                        <a:t>Clean up using separate recovery authority</a:t>
                      </a:r>
                    </a:p>
                  </a:txBody>
                  <a:tcPr marL="161925" marR="161925" marT="76200" marB="76200" anchor="ctr">
                    <a:solidFill>
                      <a:srgbClr val="FFFFFF"/>
                    </a:solidFill>
                  </a:tcPr>
                </a:tc>
              </a:tr>
              <a:tr h="685800">
                <a:tc>
                  <a:txBody>
                    <a:bodyPr/>
                    <a:lstStyle/>
                    <a:p>
                      <a:r>
                        <a:rPr sz="1875" b="1">
                          <a:solidFill>
                            <a:srgbClr val="142C38"/>
                          </a:solidFill>
                          <a:latin typeface="Helvetica Neue"/>
                          <a:ea typeface="Helvetica Neue"/>
                          <a:cs typeface="Helvetica Neue"/>
                        </a:rPr>
                        <a:t>The supervising process dies</a:t>
                      </a:r>
                    </a:p>
                  </a:txBody>
                  <a:tcPr marL="161925" marR="161925" marT="76200" marB="76200" anchor="ctr">
                    <a:solidFill>
                      <a:srgbClr val="F5F4EF"/>
                    </a:solidFill>
                  </a:tcPr>
                </a:tc>
                <a:tc>
                  <a:txBody>
                    <a:bodyPr/>
                    <a:lstStyle/>
                    <a:p>
                      <a:r>
                        <a:rPr sz="1875" b="0">
                          <a:solidFill>
                            <a:srgbClr val="142C38"/>
                          </a:solidFill>
                          <a:latin typeface="Helvetica Neue"/>
                          <a:ea typeface="Helvetica Neue"/>
                          <a:cs typeface="Helvetica Neue"/>
                        </a:rPr>
                        <a:t>Reopen the record and recover the same job</a:t>
                      </a:r>
                    </a:p>
                  </a:txBody>
                  <a:tcPr marL="161925" marR="161925" marT="76200" marB="76200" anchor="ctr">
                    <a:solidFill>
                      <a:srgbClr val="F5F4EF"/>
                    </a:solidFill>
                  </a:tcPr>
                </a:tc>
              </a:tr>
            </a:tbl>
          </a:graphicData>
        </a:graphic>
      </p:graphicFrame>
      <p:sp>
        <p:nvSpPr>
          <p:cNvPr id="4" name="">
            <a:extLst xmlns:a="http://schemas.openxmlformats.org/drawingml/2006/main">
              <a:ext uri="{FF2B5EF4-FFF2-40B4-BE49-F238E27FC236}">
                <a16:creationId xmlns:a16="http://schemas.microsoft.com/office/drawing/2014/main" id="{80CE5700-1CA6-4F36-A3BD-F77A9E8CB339}"/>
              </a:ext>
            </a:extLst>
          </p:cNvPr>
          <p:cNvSpPr>
            <a:spLocks xmlns:a="http://schemas.openxmlformats.org/drawingml/2006/main" noGrp="1"/>
          </p:cNvSpPr>
          <p:nvPr/>
        </p:nvSpPr>
        <p:spPr>
          <a:xfrm xmlns:a="http://schemas.openxmlformats.org/drawingml/2006/main">
            <a:off x="685800" y="62579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36672"/>
                </a:solidFill>
                <a:latin typeface="Helvetica Neue"/>
                <a:ea typeface="Helvetica Neue"/>
                <a:cs typeface="Helvetica Neue"/>
              </a:defRPr>
            </a:pPr>
            <a:r>
              <a:rPr sz="1425" b="0">
                <a:solidFill>
                  <a:srgbClr val="536672"/>
                </a:solidFill>
                <a:latin typeface="Helvetica Neue"/>
                <a:ea typeface="Helvetica Neue"/>
                <a:cs typeface="Helvetica Neue"/>
              </a:rPr>
              <a:t>13 test jobs accounted for and removed. Final suite: 895 tests and all 11 checks passed.</a:t>
            </a:r>
          </a:p>
        </p:txBody>
      </p:sp>
    </p:spTree>
    <p:extLst>
      <p:ext uri="{BB962C8B-B14F-4D97-AF65-F5344CB8AC3E}">
        <p14:creationId xmlns:p14="http://schemas.microsoft.com/office/powerpoint/2010/main" val="2565812"/>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92239F-61FE-4FB6-95C7-B32DF3140109}"/>
              </a:ext>
            </a:extLst>
          </p:cNvPr>
          <p:cNvSpPr>
            <a:spLocks xmlns:a="http://schemas.openxmlformats.org/drawingml/2006/main" noGrp="1"/>
          </p:cNvSpPr>
          <p:nvPr/>
        </p:nvSpPr>
        <p:spPr>
          <a:xfrm xmlns:a="http://schemas.openxmlformats.org/drawingml/2006/main">
            <a:off x="666750" y="504825"/>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38"/>
                </a:solidFill>
                <a:latin typeface="Helvetica Neue"/>
                <a:ea typeface="Helvetica Neue"/>
                <a:cs typeface="Helvetica Neue"/>
              </a:defRPr>
            </a:pPr>
            <a:r>
              <a:rPr sz="3450" b="1">
                <a:solidFill>
                  <a:srgbClr val="142C38"/>
                </a:solidFill>
                <a:latin typeface="Helvetica Neue"/>
                <a:ea typeface="Helvetica Neue"/>
                <a:cs typeface="Helvetica Neue"/>
              </a:rPr>
              <a:t>Testing has changed the implementation</a:t>
            </a:r>
          </a:p>
        </p:txBody>
      </p:sp>
      <p:sp>
        <p:nvSpPr>
          <p:cNvPr id="2" name="">
            <a:extLst xmlns:a="http://schemas.openxmlformats.org/drawingml/2006/main">
              <a:ext uri="{FF2B5EF4-FFF2-40B4-BE49-F238E27FC236}">
                <a16:creationId xmlns:a16="http://schemas.microsoft.com/office/drawing/2014/main" id="{D070D1FF-A652-49CB-8F06-76CA5B56D08E}"/>
              </a:ext>
            </a:extLst>
          </p:cNvPr>
          <p:cNvSpPr>
            <a:spLocks xmlns:a="http://schemas.openxmlformats.org/drawingml/2006/main" noGrp="1"/>
          </p:cNvSpPr>
          <p:nvPr/>
        </p:nvSpPr>
        <p:spPr>
          <a:xfrm xmlns:a="http://schemas.openxmlformats.org/drawingml/2006/main">
            <a:off x="685800" y="16764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536672"/>
                </a:solidFill>
                <a:latin typeface="Helvetica Neue"/>
                <a:ea typeface="Helvetica Neue"/>
                <a:cs typeface="Helvetica Neue"/>
              </a:defRPr>
            </a:pPr>
            <a:r>
              <a:rPr sz="2025" b="0">
                <a:solidFill>
                  <a:srgbClr val="536672"/>
                </a:solidFill>
                <a:latin typeface="Helvetica Neue"/>
                <a:ea typeface="Helvetica Neue"/>
                <a:cs typeface="Helvetica Neue"/>
              </a:rPr>
              <a:t>Failures are becoming recorded engineering decisions</a:t>
            </a:r>
          </a:p>
        </p:txBody>
      </p:sp>
      <p:graphicFrame>
        <p:nvGraphicFramePr>
          <p:cNvPr id="7" name=""/>
          <p:cNvGraphicFramePr/>
          <p:nvPr/>
        </p:nvGraphicFramePr>
        <p:xfrm>
          <a:off xmlns:a="http://schemas.openxmlformats.org/drawingml/2006/main" x="685800" y="2381250"/>
          <a:ext xmlns:a="http://schemas.openxmlformats.org/drawingml/2006/main" cx="10820400" cy="3181350"/>
        </p:xfrm>
        <a:graphic xmlns:a="http://schemas.openxmlformats.org/drawingml/2006/main">
          <a:graphicData uri="http://schemas.openxmlformats.org/drawingml/2006/table">
            <a:tbl>
              <a:tblPr/>
              <a:tblGrid>
                <a:gridCol w="5334000"/>
                <a:gridCol w="5486400"/>
              </a:tblGrid>
              <a:tr h="590550">
                <a:tc>
                  <a:txBody>
                    <a:bodyPr/>
                    <a:lstStyle/>
                    <a:p>
                      <a:r>
                        <a:rPr sz="1650" b="1">
                          <a:solidFill>
                            <a:srgbClr val="FFFFFF"/>
                          </a:solidFill>
                          <a:latin typeface="Helvetica Neue"/>
                          <a:ea typeface="Helvetica Neue"/>
                          <a:cs typeface="Helvetica Neue"/>
                        </a:rPr>
                        <a:t>What the tests revealed</a:t>
                      </a:r>
                    </a:p>
                  </a:txBody>
                  <a:tcPr marL="161925" marR="161925" marT="76200" marB="76200" anchor="ctr">
                    <a:solidFill>
                      <a:srgbClr val="142C38"/>
                    </a:solidFill>
                  </a:tcPr>
                </a:tc>
                <a:tc>
                  <a:txBody>
                    <a:bodyPr/>
                    <a:lstStyle/>
                    <a:p>
                      <a:r>
                        <a:rPr sz="1650" b="1">
                          <a:solidFill>
                            <a:srgbClr val="FFFFFF"/>
                          </a:solidFill>
                          <a:latin typeface="Helvetica Neue"/>
                          <a:ea typeface="Helvetica Neue"/>
                          <a:cs typeface="Helvetica Neue"/>
                        </a:rPr>
                        <a:t>How the plan changed</a:t>
                      </a:r>
                    </a:p>
                  </a:txBody>
                  <a:tcPr marL="161925" marR="161925" marT="76200" marB="76200" anchor="ctr">
                    <a:solidFill>
                      <a:srgbClr val="142C38"/>
                    </a:solidFill>
                  </a:tcPr>
                </a:tc>
              </a:tr>
              <a:tr h="863600">
                <a:tc>
                  <a:txBody>
                    <a:bodyPr/>
                    <a:lstStyle/>
                    <a:p>
                      <a:r>
                        <a:rPr sz="1950" b="1">
                          <a:solidFill>
                            <a:srgbClr val="142C38"/>
                          </a:solidFill>
                          <a:latin typeface="Helvetica Neue"/>
                          <a:ea typeface="Helvetica Neue"/>
                          <a:cs typeface="Helvetica Neue"/>
                        </a:rPr>
                        <a:t>A helper could keep writing after its parent stopped</a:t>
                      </a:r>
                    </a:p>
                  </a:txBody>
                  <a:tcPr marL="161925" marR="161925" marT="76200" marB="76200" anchor="ctr">
                    <a:solidFill>
                      <a:srgbClr val="FFFFFF"/>
                    </a:solidFill>
                  </a:tcPr>
                </a:tc>
                <a:tc>
                  <a:txBody>
                    <a:bodyPr/>
                    <a:lstStyle/>
                    <a:p>
                      <a:r>
                        <a:rPr sz="1950" b="0">
                          <a:solidFill>
                            <a:srgbClr val="142C38"/>
                          </a:solidFill>
                          <a:latin typeface="Helvetica Neue"/>
                          <a:ea typeface="Helvetica Neue"/>
                          <a:cs typeface="Helvetica Neue"/>
                        </a:rPr>
                        <a:t>Added a separately controlled execution boundary</a:t>
                      </a:r>
                    </a:p>
                  </a:txBody>
                  <a:tcPr marL="161925" marR="161925" marT="76200" marB="76200" anchor="ctr">
                    <a:solidFill>
                      <a:srgbClr val="FFFFFF"/>
                    </a:solidFill>
                  </a:tcPr>
                </a:tc>
              </a:tr>
              <a:tr h="863600">
                <a:tc>
                  <a:txBody>
                    <a:bodyPr/>
                    <a:lstStyle/>
                    <a:p>
                      <a:r>
                        <a:rPr sz="1950" b="1">
                          <a:solidFill>
                            <a:srgbClr val="142C38"/>
                          </a:solidFill>
                          <a:latin typeface="Helvetica Neue"/>
                          <a:ea typeface="Helvetica Neue"/>
                          <a:cs typeface="Helvetica Neue"/>
                        </a:rPr>
                        <a:t>Restoring an old key could weaken deletion</a:t>
                      </a:r>
                    </a:p>
                  </a:txBody>
                  <a:tcPr marL="161925" marR="161925" marT="76200" marB="76200" anchor="ctr">
                    <a:solidFill>
                      <a:srgbClr val="F5F4EF"/>
                    </a:solidFill>
                  </a:tcPr>
                </a:tc>
                <a:tc>
                  <a:txBody>
                    <a:bodyPr/>
                    <a:lstStyle/>
                    <a:p>
                      <a:r>
                        <a:rPr sz="1950" b="0">
                          <a:solidFill>
                            <a:srgbClr val="142C38"/>
                          </a:solidFill>
                          <a:latin typeface="Helvetica Neue"/>
                          <a:ea typeface="Helvetica Neue"/>
                          <a:cs typeface="Helvetica Neue"/>
                        </a:rPr>
                        <a:t>Added lasting denial that survives a restart</a:t>
                      </a:r>
                    </a:p>
                  </a:txBody>
                  <a:tcPr marL="161925" marR="161925" marT="76200" marB="76200" anchor="ctr">
                    <a:solidFill>
                      <a:srgbClr val="F5F4EF"/>
                    </a:solidFill>
                  </a:tcPr>
                </a:tc>
              </a:tr>
              <a:tr h="863600">
                <a:tc>
                  <a:txBody>
                    <a:bodyPr/>
                    <a:lstStyle/>
                    <a:p>
                      <a:r>
                        <a:rPr sz="1950" b="1">
                          <a:solidFill>
                            <a:srgbClr val="142C38"/>
                          </a:solidFill>
                          <a:latin typeface="Helvetica Neue"/>
                          <a:ea typeface="Helvetica Neue"/>
                          <a:cs typeface="Helvetica Neue"/>
                        </a:rPr>
                        <a:t>Preparation and supervision shared a short timeout</a:t>
                      </a:r>
                    </a:p>
                  </a:txBody>
                  <a:tcPr marL="161925" marR="161925" marT="76200" marB="76200" anchor="ctr">
                    <a:solidFill>
                      <a:srgbClr val="FFFFFF"/>
                    </a:solidFill>
                  </a:tcPr>
                </a:tc>
                <a:tc>
                  <a:txBody>
                    <a:bodyPr/>
                    <a:lstStyle/>
                    <a:p>
                      <a:r>
                        <a:rPr sz="1950" b="0">
                          <a:solidFill>
                            <a:srgbClr val="142C38"/>
                          </a:solidFill>
                          <a:latin typeface="Helvetica Neue"/>
                          <a:ea typeface="Helvetica Neue"/>
                          <a:cs typeface="Helvetica Neue"/>
                        </a:rPr>
                        <a:t>Separated their budgets and preserved original receipts</a:t>
                      </a:r>
                    </a:p>
                  </a:txBody>
                  <a:tcPr marL="161925" marR="161925"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692F316-0BCC-44F3-A9C1-B9F0397B0ED8}"/>
              </a:ext>
            </a:extLst>
          </p:cNvPr>
          <p:cNvSpPr>
            <a:spLocks xmlns:a="http://schemas.openxmlformats.org/drawingml/2006/main" noGrp="1"/>
          </p:cNvSpPr>
          <p:nvPr/>
        </p:nvSpPr>
        <p:spPr>
          <a:xfrm xmlns:a="http://schemas.openxmlformats.org/drawingml/2006/main">
            <a:off x="685800" y="62579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36672"/>
                </a:solidFill>
                <a:latin typeface="Helvetica Neue"/>
                <a:ea typeface="Helvetica Neue"/>
                <a:cs typeface="Helvetica Neue"/>
              </a:defRPr>
            </a:pPr>
            <a:r>
              <a:rPr sz="1425" b="0">
                <a:solidFill>
                  <a:srgbClr val="536672"/>
                </a:solidFill>
                <a:latin typeface="Helvetica Neue"/>
                <a:ea typeface="Helvetica Neue"/>
                <a:cs typeface="Helvetica Neue"/>
              </a:rPr>
              <a:t>The earlier lost creation reply still has an unknown cause. The corrected workflow now passes.</a:t>
            </a:r>
          </a:p>
        </p:txBody>
      </p:sp>
    </p:spTree>
    <p:extLst>
      <p:ext uri="{BB962C8B-B14F-4D97-AF65-F5344CB8AC3E}">
        <p14:creationId xmlns:p14="http://schemas.microsoft.com/office/powerpoint/2010/main" val="451594166"/>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09277C-2613-4BB5-8E0C-0501DDCAACF3}"/>
              </a:ext>
            </a:extLst>
          </p:cNvPr>
          <p:cNvSpPr>
            <a:spLocks xmlns:a="http://schemas.openxmlformats.org/drawingml/2006/main" noGrp="1"/>
          </p:cNvSpPr>
          <p:nvPr/>
        </p:nvSpPr>
        <p:spPr>
          <a:xfrm xmlns:a="http://schemas.openxmlformats.org/drawingml/2006/main">
            <a:off x="666750" y="504825"/>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38"/>
                </a:solidFill>
                <a:latin typeface="Helvetica Neue"/>
                <a:ea typeface="Helvetica Neue"/>
                <a:cs typeface="Helvetica Neue"/>
              </a:defRPr>
            </a:pPr>
            <a:r>
              <a:rPr sz="3450" b="1">
                <a:solidFill>
                  <a:srgbClr val="142C38"/>
                </a:solidFill>
                <a:latin typeface="Helvetica Neue"/>
                <a:ea typeface="Helvetica Neue"/>
                <a:cs typeface="Helvetica Neue"/>
              </a:rPr>
              <a:t>Where maturity stands</a:t>
            </a:r>
          </a:p>
        </p:txBody>
      </p:sp>
      <p:sp>
        <p:nvSpPr>
          <p:cNvPr id="2" name="">
            <a:extLst xmlns:a="http://schemas.openxmlformats.org/drawingml/2006/main">
              <a:ext uri="{FF2B5EF4-FFF2-40B4-BE49-F238E27FC236}">
                <a16:creationId xmlns:a16="http://schemas.microsoft.com/office/drawing/2014/main" id="{8D6E0CC0-EA0C-4E3A-9DA2-F85352041591}"/>
              </a:ext>
            </a:extLst>
          </p:cNvPr>
          <p:cNvSpPr>
            <a:spLocks xmlns:a="http://schemas.openxmlformats.org/drawingml/2006/main" noGrp="1"/>
          </p:cNvSpPr>
          <p:nvPr/>
        </p:nvSpPr>
        <p:spPr>
          <a:xfrm xmlns:a="http://schemas.openxmlformats.org/drawingml/2006/main">
            <a:off x="685800" y="16764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536672"/>
                </a:solidFill>
                <a:latin typeface="Helvetica Neue"/>
                <a:ea typeface="Helvetica Neue"/>
                <a:cs typeface="Helvetica Neue"/>
              </a:defRPr>
            </a:pPr>
            <a:r>
              <a:rPr sz="2025" b="0">
                <a:solidFill>
                  <a:srgbClr val="536672"/>
                </a:solidFill>
                <a:latin typeface="Helvetica Neue"/>
                <a:ea typeface="Helvetica Neue"/>
                <a:cs typeface="Helvetica Neue"/>
              </a:rPr>
              <a:t>More behaviors have evidence. Product readiness still has clear gates.</a:t>
            </a:r>
          </a:p>
        </p:txBody>
      </p:sp>
      <p:graphicFrame>
        <p:nvGraphicFramePr>
          <p:cNvPr id="7" name=""/>
          <p:cNvGraphicFramePr/>
          <p:nvPr/>
        </p:nvGraphicFramePr>
        <p:xfrm>
          <a:off xmlns:a="http://schemas.openxmlformats.org/drawingml/2006/main" x="685800" y="2381250"/>
          <a:ext xmlns:a="http://schemas.openxmlformats.org/drawingml/2006/main" cx="10820400" cy="3333750"/>
        </p:xfrm>
        <a:graphic xmlns:a="http://schemas.openxmlformats.org/drawingml/2006/main">
          <a:graphicData uri="http://schemas.openxmlformats.org/drawingml/2006/table">
            <a:tbl>
              <a:tblPr/>
              <a:tblGrid>
                <a:gridCol w="3400425"/>
                <a:gridCol w="3648075"/>
                <a:gridCol w="3771900"/>
              </a:tblGrid>
              <a:tr h="590550">
                <a:tc>
                  <a:txBody>
                    <a:bodyPr/>
                    <a:lstStyle/>
                    <a:p>
                      <a:r>
                        <a:rPr sz="1650" b="1">
                          <a:solidFill>
                            <a:srgbClr val="FFFFFF"/>
                          </a:solidFill>
                          <a:latin typeface="Helvetica Neue"/>
                          <a:ea typeface="Helvetica Neue"/>
                          <a:cs typeface="Helvetica Neue"/>
                        </a:rPr>
                        <a:t>Area</a:t>
                      </a:r>
                    </a:p>
                  </a:txBody>
                  <a:tcPr marL="161925" marR="161925" marT="76200" marB="76200" anchor="ctr">
                    <a:solidFill>
                      <a:srgbClr val="142C38"/>
                    </a:solidFill>
                  </a:tcPr>
                </a:tc>
                <a:tc>
                  <a:txBody>
                    <a:bodyPr/>
                    <a:lstStyle/>
                    <a:p>
                      <a:r>
                        <a:rPr sz="1650" b="1">
                          <a:solidFill>
                            <a:srgbClr val="FFFFFF"/>
                          </a:solidFill>
                          <a:latin typeface="Helvetica Neue"/>
                          <a:ea typeface="Helvetica Neue"/>
                          <a:cs typeface="Helvetica Neue"/>
                        </a:rPr>
                        <a:t>Position today</a:t>
                      </a:r>
                    </a:p>
                  </a:txBody>
                  <a:tcPr marL="161925" marR="161925" marT="76200" marB="76200" anchor="ctr">
                    <a:solidFill>
                      <a:srgbClr val="142C38"/>
                    </a:solidFill>
                  </a:tcPr>
                </a:tc>
                <a:tc>
                  <a:txBody>
                    <a:bodyPr/>
                    <a:lstStyle/>
                    <a:p>
                      <a:r>
                        <a:rPr sz="1650" b="1">
                          <a:solidFill>
                            <a:srgbClr val="FFFFFF"/>
                          </a:solidFill>
                          <a:latin typeface="Helvetica Neue"/>
                          <a:ea typeface="Helvetica Neue"/>
                          <a:cs typeface="Helvetica Neue"/>
                        </a:rPr>
                        <a:t>Next proof needed</a:t>
                      </a:r>
                    </a:p>
                  </a:txBody>
                  <a:tcPr marL="161925" marR="161925" marT="76200" marB="76200" anchor="ctr">
                    <a:solidFill>
                      <a:srgbClr val="142C38"/>
                    </a:solidFill>
                  </a:tcPr>
                </a:tc>
              </a:tr>
              <a:tr h="685800">
                <a:tc>
                  <a:txBody>
                    <a:bodyPr/>
                    <a:lstStyle/>
                    <a:p>
                      <a:r>
                        <a:rPr sz="1875" b="1">
                          <a:solidFill>
                            <a:srgbClr val="142C38"/>
                          </a:solidFill>
                          <a:latin typeface="Helvetica Neue"/>
                          <a:ea typeface="Helvetica Neue"/>
                          <a:cs typeface="Helvetica Neue"/>
                        </a:rPr>
                        <a:t>Core services and records</a:t>
                      </a:r>
                    </a:p>
                  </a:txBody>
                  <a:tcPr marL="161925" marR="161925" marT="76200" marB="76200" anchor="ctr">
                    <a:solidFill>
                      <a:srgbClr val="FFFFFF"/>
                    </a:solidFill>
                  </a:tcPr>
                </a:tc>
                <a:tc>
                  <a:txBody>
                    <a:bodyPr/>
                    <a:lstStyle/>
                    <a:p>
                      <a:r>
                        <a:rPr sz="1875" b="0">
                          <a:solidFill>
                            <a:srgbClr val="142C38"/>
                          </a:solidFill>
                          <a:latin typeface="Helvetica Neue"/>
                          <a:ea typeface="Helvetica Neue"/>
                          <a:cs typeface="Helvetica Neue"/>
                        </a:rPr>
                        <a:t>Built and tested locally</a:t>
                      </a:r>
                    </a:p>
                  </a:txBody>
                  <a:tcPr marL="161925" marR="161925" marT="76200" marB="76200" anchor="ctr">
                    <a:solidFill>
                      <a:srgbClr val="FFFFFF"/>
                    </a:solidFill>
                  </a:tcPr>
                </a:tc>
                <a:tc>
                  <a:txBody>
                    <a:bodyPr/>
                    <a:lstStyle/>
                    <a:p>
                      <a:r>
                        <a:rPr sz="1875" b="0">
                          <a:solidFill>
                            <a:srgbClr val="142C38"/>
                          </a:solidFill>
                          <a:latin typeface="Helvetica Neue"/>
                          <a:ea typeface="Helvetica Neue"/>
                          <a:cs typeface="Helvetica Neue"/>
                        </a:rPr>
                        <a:t>Usable complete task workflow</a:t>
                      </a:r>
                    </a:p>
                  </a:txBody>
                  <a:tcPr marL="161925" marR="161925" marT="76200" marB="76200" anchor="ctr">
                    <a:solidFill>
                      <a:srgbClr val="FFFFFF"/>
                    </a:solidFill>
                  </a:tcPr>
                </a:tc>
              </a:tr>
              <a:tr h="685800">
                <a:tc>
                  <a:txBody>
                    <a:bodyPr/>
                    <a:lstStyle/>
                    <a:p>
                      <a:r>
                        <a:rPr sz="1875" b="1">
                          <a:solidFill>
                            <a:srgbClr val="142C38"/>
                          </a:solidFill>
                          <a:latin typeface="Helvetica Neue"/>
                          <a:ea typeface="Helvetica Neue"/>
                          <a:cs typeface="Helvetica Neue"/>
                        </a:rPr>
                        <a:t>Claude Code integration</a:t>
                      </a:r>
                    </a:p>
                  </a:txBody>
                  <a:tcPr marL="161925" marR="161925" marT="76200" marB="76200" anchor="ctr">
                    <a:solidFill>
                      <a:srgbClr val="F5F4EF"/>
                    </a:solidFill>
                  </a:tcPr>
                </a:tc>
                <a:tc>
                  <a:txBody>
                    <a:bodyPr/>
                    <a:lstStyle/>
                    <a:p>
                      <a:r>
                        <a:rPr sz="1875" b="0">
                          <a:solidFill>
                            <a:srgbClr val="142C38"/>
                          </a:solidFill>
                          <a:latin typeface="Helvetica Neue"/>
                          <a:ea typeface="Helvetica Neue"/>
                          <a:cs typeface="Helvetica Neue"/>
                        </a:rPr>
                        <a:t>One real observation pilot</a:t>
                      </a:r>
                    </a:p>
                  </a:txBody>
                  <a:tcPr marL="161925" marR="161925" marT="76200" marB="76200" anchor="ctr">
                    <a:solidFill>
                      <a:srgbClr val="F5F4EF"/>
                    </a:solidFill>
                  </a:tcPr>
                </a:tc>
                <a:tc>
                  <a:txBody>
                    <a:bodyPr/>
                    <a:lstStyle/>
                    <a:p>
                      <a:r>
                        <a:rPr sz="1875" b="0">
                          <a:solidFill>
                            <a:srgbClr val="142C38"/>
                          </a:solidFill>
                          <a:latin typeface="Helvetica Neue"/>
                          <a:ea typeface="Helvetica Neue"/>
                          <a:cs typeface="Helvetica Neue"/>
                        </a:rPr>
                        <a:t>Repeatable results on fresh tasks</a:t>
                      </a:r>
                    </a:p>
                  </a:txBody>
                  <a:tcPr marL="161925" marR="161925" marT="76200" marB="76200" anchor="ctr">
                    <a:solidFill>
                      <a:srgbClr val="F5F4EF"/>
                    </a:solidFill>
                  </a:tcPr>
                </a:tc>
              </a:tr>
              <a:tr h="685800">
                <a:tc>
                  <a:txBody>
                    <a:bodyPr/>
                    <a:lstStyle/>
                    <a:p>
                      <a:r>
                        <a:rPr sz="1875" b="1">
                          <a:solidFill>
                            <a:srgbClr val="142C38"/>
                          </a:solidFill>
                          <a:latin typeface="Helvetica Neue"/>
                          <a:ea typeface="Helvetica Neue"/>
                          <a:cs typeface="Helvetica Neue"/>
                        </a:rPr>
                        <a:t>Controlled job recovery</a:t>
                      </a:r>
                    </a:p>
                  </a:txBody>
                  <a:tcPr marL="161925" marR="161925" marT="76200" marB="76200" anchor="ctr">
                    <a:solidFill>
                      <a:srgbClr val="FFFFFF"/>
                    </a:solidFill>
                  </a:tcPr>
                </a:tc>
                <a:tc>
                  <a:txBody>
                    <a:bodyPr/>
                    <a:lstStyle/>
                    <a:p>
                      <a:r>
                        <a:rPr sz="1875" b="0">
                          <a:solidFill>
                            <a:srgbClr val="142C38"/>
                          </a:solidFill>
                          <a:latin typeface="Helvetica Neue"/>
                          <a:ea typeface="Helvetica Neue"/>
                          <a:cs typeface="Helvetica Neue"/>
                        </a:rPr>
                        <a:t>Passed fixed test scenarios</a:t>
                      </a:r>
                    </a:p>
                  </a:txBody>
                  <a:tcPr marL="161925" marR="161925" marT="76200" marB="76200" anchor="ctr">
                    <a:solidFill>
                      <a:srgbClr val="FFFFFF"/>
                    </a:solidFill>
                  </a:tcPr>
                </a:tc>
                <a:tc>
                  <a:txBody>
                    <a:bodyPr/>
                    <a:lstStyle/>
                    <a:p>
                      <a:r>
                        <a:rPr sz="1875" b="0">
                          <a:solidFill>
                            <a:srgbClr val="142C38"/>
                          </a:solidFill>
                          <a:latin typeface="Helvetica Neue"/>
                          <a:ea typeface="Helvetica Neue"/>
                          <a:cs typeface="Helvetica Neue"/>
                        </a:rPr>
                        <a:t>Temporary-copy and output custody</a:t>
                      </a:r>
                    </a:p>
                  </a:txBody>
                  <a:tcPr marL="161925" marR="161925" marT="76200" marB="76200" anchor="ctr">
                    <a:solidFill>
                      <a:srgbClr val="FFFFFF"/>
                    </a:solidFill>
                  </a:tcPr>
                </a:tc>
              </a:tr>
              <a:tr h="685800">
                <a:tc>
                  <a:txBody>
                    <a:bodyPr/>
                    <a:lstStyle/>
                    <a:p>
                      <a:r>
                        <a:rPr sz="1875" b="1">
                          <a:solidFill>
                            <a:srgbClr val="142C38"/>
                          </a:solidFill>
                          <a:latin typeface="Helvetica Neue"/>
                          <a:ea typeface="Helvetica Neue"/>
                          <a:cs typeface="Helvetica Neue"/>
                        </a:rPr>
                        <a:t>Commercial value</a:t>
                      </a:r>
                    </a:p>
                  </a:txBody>
                  <a:tcPr marL="161925" marR="161925" marT="76200" marB="76200" anchor="ctr">
                    <a:solidFill>
                      <a:srgbClr val="F5F4EF"/>
                    </a:solidFill>
                  </a:tcPr>
                </a:tc>
                <a:tc>
                  <a:txBody>
                    <a:bodyPr/>
                    <a:lstStyle/>
                    <a:p>
                      <a:r>
                        <a:rPr sz="1875" b="0">
                          <a:solidFill>
                            <a:srgbClr val="142C38"/>
                          </a:solidFill>
                          <a:latin typeface="Helvetica Neue"/>
                          <a:ea typeface="Helvetica Neue"/>
                          <a:cs typeface="Helvetica Neue"/>
                        </a:rPr>
                        <a:t>Still to measure</a:t>
                      </a:r>
                    </a:p>
                  </a:txBody>
                  <a:tcPr marL="161925" marR="161925" marT="76200" marB="76200" anchor="ctr">
                    <a:solidFill>
                      <a:srgbClr val="F5F4EF"/>
                    </a:solidFill>
                  </a:tcPr>
                </a:tc>
                <a:tc>
                  <a:txBody>
                    <a:bodyPr/>
                    <a:lstStyle/>
                    <a:p>
                      <a:r>
                        <a:rPr sz="1875" b="0">
                          <a:solidFill>
                            <a:srgbClr val="142C38"/>
                          </a:solidFill>
                          <a:latin typeface="Helvetica Neue"/>
                          <a:ea typeface="Helvetica Neue"/>
                          <a:cs typeface="Helvetica Neue"/>
                        </a:rPr>
                        <a:t>Quality, effort, cost and reliability</a:t>
                      </a:r>
                    </a:p>
                  </a:txBody>
                  <a:tcPr marL="161925" marR="161925" marT="76200" marB="76200" anchor="ctr">
                    <a:solidFill>
                      <a:srgbClr val="F5F4EF"/>
                    </a:solidFill>
                  </a:tcPr>
                </a:tc>
              </a:tr>
            </a:tbl>
          </a:graphicData>
        </a:graphic>
      </p:graphicFrame>
      <p:sp>
        <p:nvSpPr>
          <p:cNvPr id="4" name="">
            <a:extLst xmlns:a="http://schemas.openxmlformats.org/drawingml/2006/main">
              <a:ext uri="{FF2B5EF4-FFF2-40B4-BE49-F238E27FC236}">
                <a16:creationId xmlns:a16="http://schemas.microsoft.com/office/drawing/2014/main" id="{C34F5AE0-4962-4CB9-BCF7-24B7AEA32E73}"/>
              </a:ext>
            </a:extLst>
          </p:cNvPr>
          <p:cNvSpPr>
            <a:spLocks xmlns:a="http://schemas.openxmlformats.org/drawingml/2006/main" noGrp="1"/>
          </p:cNvSpPr>
          <p:nvPr/>
        </p:nvSpPr>
        <p:spPr>
          <a:xfrm xmlns:a="http://schemas.openxmlformats.org/drawingml/2006/main">
            <a:off x="685800" y="62579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36672"/>
                </a:solidFill>
                <a:latin typeface="Helvetica Neue"/>
                <a:ea typeface="Helvetica Neue"/>
                <a:cs typeface="Helvetica Neue"/>
              </a:defRPr>
            </a:pPr>
            <a:r>
              <a:rPr sz="1425" b="0">
                <a:solidFill>
                  <a:srgbClr val="536672"/>
                </a:solidFill>
                <a:latin typeface="Helvetica Neue"/>
                <a:ea typeface="Helvetica Neue"/>
                <a:cs typeface="Helvetica Neue"/>
              </a:rPr>
              <a:t>All 77 decision grades remain unchanged. Test counts do not measure percent product completion.</a:t>
            </a:r>
          </a:p>
        </p:txBody>
      </p:sp>
    </p:spTree>
    <p:extLst>
      <p:ext uri="{BB962C8B-B14F-4D97-AF65-F5344CB8AC3E}">
        <p14:creationId xmlns:p14="http://schemas.microsoft.com/office/powerpoint/2010/main" val="1194227387"/>
      </p:ext>
    </p:extLst>
  </p:cSld>
</p:sld>
</file>

<file path=ppt/slides/slide9.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4E3342-DCFD-4A34-905D-081A0A490332}"/>
              </a:ext>
            </a:extLst>
          </p:cNvPr>
          <p:cNvSpPr>
            <a:spLocks xmlns:a="http://schemas.openxmlformats.org/drawingml/2006/main" noGrp="1"/>
          </p:cNvSpPr>
          <p:nvPr/>
        </p:nvSpPr>
        <p:spPr>
          <a:xfrm xmlns:a="http://schemas.openxmlformats.org/drawingml/2006/main">
            <a:off x="666750" y="504825"/>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38"/>
                </a:solidFill>
                <a:latin typeface="Helvetica Neue"/>
                <a:ea typeface="Helvetica Neue"/>
                <a:cs typeface="Helvetica Neue"/>
              </a:defRPr>
            </a:pPr>
            <a:r>
              <a:rPr sz="3450" b="1">
                <a:solidFill>
                  <a:srgbClr val="142C38"/>
                </a:solidFill>
                <a:latin typeface="Helvetica Neue"/>
                <a:ea typeface="Helvetica Neue"/>
                <a:cs typeface="Helvetica Neue"/>
              </a:rPr>
              <a:t>The product path across coding tools</a:t>
            </a:r>
          </a:p>
        </p:txBody>
      </p:sp>
      <p:sp>
        <p:nvSpPr>
          <p:cNvPr id="2" name="">
            <a:extLst xmlns:a="http://schemas.openxmlformats.org/drawingml/2006/main">
              <a:ext uri="{FF2B5EF4-FFF2-40B4-BE49-F238E27FC236}">
                <a16:creationId xmlns:a16="http://schemas.microsoft.com/office/drawing/2014/main" id="{0E2A2FD1-064D-47A7-A696-59493FD6BF54}"/>
              </a:ext>
            </a:extLst>
          </p:cNvPr>
          <p:cNvSpPr>
            <a:spLocks xmlns:a="http://schemas.openxmlformats.org/drawingml/2006/main" noGrp="1"/>
          </p:cNvSpPr>
          <p:nvPr/>
        </p:nvSpPr>
        <p:spPr>
          <a:xfrm xmlns:a="http://schemas.openxmlformats.org/drawingml/2006/main">
            <a:off x="685800" y="16764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536672"/>
                </a:solidFill>
                <a:latin typeface="Helvetica Neue"/>
                <a:ea typeface="Helvetica Neue"/>
                <a:cs typeface="Helvetica Neue"/>
              </a:defRPr>
            </a:pPr>
            <a:r>
              <a:rPr sz="2025" b="0">
                <a:solidFill>
                  <a:srgbClr val="536672"/>
                </a:solidFill>
                <a:latin typeface="Helvetica Neue"/>
                <a:ea typeface="Helvetica Neue"/>
                <a:cs typeface="Helvetica Neue"/>
              </a:rPr>
              <a:t>We are building shared services and a small connection layer for each tool</a:t>
            </a:r>
          </a:p>
        </p:txBody>
      </p:sp>
      <p:graphicFrame>
        <p:nvGraphicFramePr>
          <p:cNvPr id="7" name=""/>
          <p:cNvGraphicFramePr/>
          <p:nvPr/>
        </p:nvGraphicFramePr>
        <p:xfrm>
          <a:off xmlns:a="http://schemas.openxmlformats.org/drawingml/2006/main" x="685800" y="2381250"/>
          <a:ext xmlns:a="http://schemas.openxmlformats.org/drawingml/2006/main" cx="10820400" cy="3124200"/>
        </p:xfrm>
        <a:graphic xmlns:a="http://schemas.openxmlformats.org/drawingml/2006/main">
          <a:graphicData uri="http://schemas.openxmlformats.org/drawingml/2006/table">
            <a:tbl>
              <a:tblPr/>
              <a:tblGrid>
                <a:gridCol w="2809875"/>
                <a:gridCol w="3924300"/>
                <a:gridCol w="4086225"/>
              </a:tblGrid>
              <a:tr h="590550">
                <a:tc>
                  <a:txBody>
                    <a:bodyPr/>
                    <a:lstStyle/>
                    <a:p>
                      <a:r>
                        <a:rPr sz="1650" b="1">
                          <a:solidFill>
                            <a:srgbClr val="FFFFFF"/>
                          </a:solidFill>
                          <a:latin typeface="Helvetica Neue"/>
                          <a:ea typeface="Helvetica Neue"/>
                          <a:cs typeface="Helvetica Neue"/>
                        </a:rPr>
                        <a:t>Coding tool</a:t>
                      </a:r>
                    </a:p>
                  </a:txBody>
                  <a:tcPr marL="161925" marR="161925" marT="76200" marB="76200" anchor="ctr">
                    <a:solidFill>
                      <a:srgbClr val="142C38"/>
                    </a:solidFill>
                  </a:tcPr>
                </a:tc>
                <a:tc>
                  <a:txBody>
                    <a:bodyPr/>
                    <a:lstStyle/>
                    <a:p>
                      <a:r>
                        <a:rPr sz="1650" b="1">
                          <a:solidFill>
                            <a:srgbClr val="FFFFFF"/>
                          </a:solidFill>
                          <a:latin typeface="Helvetica Neue"/>
                          <a:ea typeface="Helvetica Neue"/>
                          <a:cs typeface="Helvetica Neue"/>
                        </a:rPr>
                        <a:t>Position</a:t>
                      </a:r>
                    </a:p>
                  </a:txBody>
                  <a:tcPr marL="161925" marR="161925" marT="76200" marB="76200" anchor="ctr">
                    <a:solidFill>
                      <a:srgbClr val="142C38"/>
                    </a:solidFill>
                  </a:tcPr>
                </a:tc>
                <a:tc>
                  <a:txBody>
                    <a:bodyPr/>
                    <a:lstStyle/>
                    <a:p>
                      <a:r>
                        <a:rPr sz="1650" b="1">
                          <a:solidFill>
                            <a:srgbClr val="FFFFFF"/>
                          </a:solidFill>
                          <a:latin typeface="Helvetica Neue"/>
                          <a:ea typeface="Helvetica Neue"/>
                          <a:cs typeface="Helvetica Neue"/>
                        </a:rPr>
                        <a:t>What it would prove next</a:t>
                      </a:r>
                    </a:p>
                  </a:txBody>
                  <a:tcPr marL="161925" marR="161925" marT="76200" marB="76200" anchor="ctr">
                    <a:solidFill>
                      <a:srgbClr val="142C38"/>
                    </a:solidFill>
                  </a:tcPr>
                </a:tc>
              </a:tr>
              <a:tr h="844550">
                <a:tc>
                  <a:txBody>
                    <a:bodyPr/>
                    <a:lstStyle/>
                    <a:p>
                      <a:r>
                        <a:rPr sz="2025" b="1">
                          <a:solidFill>
                            <a:srgbClr val="142C38"/>
                          </a:solidFill>
                          <a:latin typeface="Helvetica Neue"/>
                          <a:ea typeface="Helvetica Neue"/>
                          <a:cs typeface="Helvetica Neue"/>
                        </a:rPr>
                        <a:t>Claude Code</a:t>
                      </a:r>
                    </a:p>
                  </a:txBody>
                  <a:tcPr marL="161925" marR="161925" marT="76200" marB="76200" anchor="ctr">
                    <a:solidFill>
                      <a:srgbClr val="FFFFFF"/>
                    </a:solidFill>
                  </a:tcPr>
                </a:tc>
                <a:tc>
                  <a:txBody>
                    <a:bodyPr/>
                    <a:lstStyle/>
                    <a:p>
                      <a:r>
                        <a:rPr sz="2025" b="0">
                          <a:solidFill>
                            <a:srgbClr val="142C38"/>
                          </a:solidFill>
                          <a:latin typeface="Helvetica Neue"/>
                          <a:ea typeface="Helvetica Neue"/>
                          <a:cs typeface="Helvetica Neue"/>
                        </a:rPr>
                        <a:t>First connection and real observation</a:t>
                      </a:r>
                    </a:p>
                  </a:txBody>
                  <a:tcPr marL="161925" marR="161925" marT="76200" marB="76200" anchor="ctr">
                    <a:solidFill>
                      <a:srgbClr val="FFFFFF"/>
                    </a:solidFill>
                  </a:tcPr>
                </a:tc>
                <a:tc>
                  <a:txBody>
                    <a:bodyPr/>
                    <a:lstStyle/>
                    <a:p>
                      <a:r>
                        <a:rPr sz="2025" b="0">
                          <a:solidFill>
                            <a:srgbClr val="142C38"/>
                          </a:solidFill>
                          <a:latin typeface="Helvetica Neue"/>
                          <a:ea typeface="Helvetica Neue"/>
                          <a:cs typeface="Helvetica Neue"/>
                        </a:rPr>
                        <a:t>A trustworthy complete task record</a:t>
                      </a:r>
                    </a:p>
                  </a:txBody>
                  <a:tcPr marL="161925" marR="161925" marT="76200" marB="76200" anchor="ctr">
                    <a:solidFill>
                      <a:srgbClr val="FFFFFF"/>
                    </a:solidFill>
                  </a:tcPr>
                </a:tc>
              </a:tr>
              <a:tr h="844550">
                <a:tc>
                  <a:txBody>
                    <a:bodyPr/>
                    <a:lstStyle/>
                    <a:p>
                      <a:r>
                        <a:rPr sz="2025" b="1">
                          <a:solidFill>
                            <a:srgbClr val="142C38"/>
                          </a:solidFill>
                          <a:latin typeface="Helvetica Neue"/>
                          <a:ea typeface="Helvetica Neue"/>
                          <a:cs typeface="Helvetica Neue"/>
                        </a:rPr>
                        <a:t>OpenCode</a:t>
                      </a:r>
                    </a:p>
                  </a:txBody>
                  <a:tcPr marL="161925" marR="161925" marT="76200" marB="76200" anchor="ctr">
                    <a:solidFill>
                      <a:srgbClr val="F5F4EF"/>
                    </a:solidFill>
                  </a:tcPr>
                </a:tc>
                <a:tc>
                  <a:txBody>
                    <a:bodyPr/>
                    <a:lstStyle/>
                    <a:p>
                      <a:r>
                        <a:rPr sz="2025" b="0">
                          <a:solidFill>
                            <a:srgbClr val="142C38"/>
                          </a:solidFill>
                          <a:latin typeface="Helvetica Neue"/>
                          <a:ea typeface="Helvetica Neue"/>
                          <a:cs typeface="Helvetica Neue"/>
                        </a:rPr>
                        <a:t>Planned second integration</a:t>
                      </a:r>
                    </a:p>
                  </a:txBody>
                  <a:tcPr marL="161925" marR="161925" marT="76200" marB="76200" anchor="ctr">
                    <a:solidFill>
                      <a:srgbClr val="F5F4EF"/>
                    </a:solidFill>
                  </a:tcPr>
                </a:tc>
                <a:tc>
                  <a:txBody>
                    <a:bodyPr/>
                    <a:lstStyle/>
                    <a:p>
                      <a:r>
                        <a:rPr sz="2025" b="0">
                          <a:solidFill>
                            <a:srgbClr val="142C38"/>
                          </a:solidFill>
                          <a:latin typeface="Helvetica Neue"/>
                          <a:ea typeface="Helvetica Neue"/>
                          <a:cs typeface="Helvetica Neue"/>
                        </a:rPr>
                        <a:t>The same core works with another tool</a:t>
                      </a:r>
                    </a:p>
                  </a:txBody>
                  <a:tcPr marL="161925" marR="161925" marT="76200" marB="76200" anchor="ctr">
                    <a:solidFill>
                      <a:srgbClr val="F5F4EF"/>
                    </a:solidFill>
                  </a:tcPr>
                </a:tc>
              </a:tr>
              <a:tr h="844550">
                <a:tc>
                  <a:txBody>
                    <a:bodyPr/>
                    <a:lstStyle/>
                    <a:p>
                      <a:r>
                        <a:rPr sz="2025" b="1">
                          <a:solidFill>
                            <a:srgbClr val="142C38"/>
                          </a:solidFill>
                          <a:latin typeface="Helvetica Neue"/>
                          <a:ea typeface="Helvetica Neue"/>
                          <a:cs typeface="Helvetica Neue"/>
                        </a:rPr>
                        <a:t>Codex</a:t>
                      </a:r>
                    </a:p>
                  </a:txBody>
                  <a:tcPr marL="161925" marR="161925" marT="76200" marB="76200" anchor="ctr">
                    <a:solidFill>
                      <a:srgbClr val="FFFFFF"/>
                    </a:solidFill>
                  </a:tcPr>
                </a:tc>
                <a:tc>
                  <a:txBody>
                    <a:bodyPr/>
                    <a:lstStyle/>
                    <a:p>
                      <a:r>
                        <a:rPr sz="2025" b="0">
                          <a:solidFill>
                            <a:srgbClr val="142C38"/>
                          </a:solidFill>
                          <a:latin typeface="Helvetica Neue"/>
                          <a:ea typeface="Helvetica Neue"/>
                          <a:cs typeface="Helvetica Neue"/>
                        </a:rPr>
                        <a:t>Planned later integration</a:t>
                      </a:r>
                    </a:p>
                  </a:txBody>
                  <a:tcPr marL="161925" marR="161925" marT="76200" marB="76200" anchor="ctr">
                    <a:solidFill>
                      <a:srgbClr val="FFFFFF"/>
                    </a:solidFill>
                  </a:tcPr>
                </a:tc>
                <a:tc>
                  <a:txBody>
                    <a:bodyPr/>
                    <a:lstStyle/>
                    <a:p>
                      <a:r>
                        <a:rPr sz="2025" b="0">
                          <a:solidFill>
                            <a:srgbClr val="142C38"/>
                          </a:solidFill>
                          <a:latin typeface="Helvetica Neue"/>
                          <a:ea typeface="Helvetica Neue"/>
                          <a:cs typeface="Helvetica Neue"/>
                        </a:rPr>
                        <a:t>Compatibility with another model protocol</a:t>
                      </a:r>
                    </a:p>
                  </a:txBody>
                  <a:tcPr marL="161925" marR="161925"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E8CEF8B-6006-4129-8946-370DD1812A52}"/>
              </a:ext>
            </a:extLst>
          </p:cNvPr>
          <p:cNvSpPr>
            <a:spLocks xmlns:a="http://schemas.openxmlformats.org/drawingml/2006/main" noGrp="1"/>
          </p:cNvSpPr>
          <p:nvPr/>
        </p:nvSpPr>
        <p:spPr>
          <a:xfrm xmlns:a="http://schemas.openxmlformats.org/drawingml/2006/main">
            <a:off x="685800" y="62579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36672"/>
                </a:solidFill>
                <a:latin typeface="Helvetica Neue"/>
                <a:ea typeface="Helvetica Neue"/>
                <a:cs typeface="Helvetica Neue"/>
              </a:defRPr>
            </a:pPr>
            <a:r>
              <a:rPr sz="1425" b="0">
                <a:solidFill>
                  <a:srgbClr val="536672"/>
                </a:solidFill>
                <a:latin typeface="Helvetica Neue"/>
                <a:ea typeface="Helvetica Neue"/>
                <a:cs typeface="Helvetica Neue"/>
              </a:rPr>
              <a:t>The plan expands support only after testing each integration. Universal compatibility is unproven.</a:t>
            </a:r>
          </a:p>
        </p:txBody>
      </p:sp>
    </p:spTree>
    <p:extLst>
      <p:ext uri="{BB962C8B-B14F-4D97-AF65-F5344CB8AC3E}">
        <p14:creationId xmlns:p14="http://schemas.microsoft.com/office/powerpoint/2010/main" val="2115450438"/>
      </p:ext>
    </p:extLst>
  </p:cSld>
</p:sld>
</file>

<file path=ppt/slides/slide1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78D455-5C45-4B05-B42A-77E66C0F2397}"/>
              </a:ext>
            </a:extLst>
          </p:cNvPr>
          <p:cNvSpPr>
            <a:spLocks xmlns:a="http://schemas.openxmlformats.org/drawingml/2006/main" noGrp="1"/>
          </p:cNvSpPr>
          <p:nvPr/>
        </p:nvSpPr>
        <p:spPr>
          <a:xfrm xmlns:a="http://schemas.openxmlformats.org/drawingml/2006/main">
            <a:off x="666750" y="504825"/>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38"/>
                </a:solidFill>
                <a:latin typeface="Helvetica Neue"/>
                <a:ea typeface="Helvetica Neue"/>
                <a:cs typeface="Helvetica Neue"/>
              </a:defRPr>
            </a:pPr>
            <a:r>
              <a:rPr sz="3450" b="1">
                <a:solidFill>
                  <a:srgbClr val="142C38"/>
                </a:solidFill>
                <a:latin typeface="Helvetica Neue"/>
                <a:ea typeface="Helvetica Neue"/>
                <a:cs typeface="Helvetica Neue"/>
              </a:rPr>
              <a:t>The next milestones</a:t>
            </a:r>
          </a:p>
        </p:txBody>
      </p:sp>
      <p:sp>
        <p:nvSpPr>
          <p:cNvPr id="2" name="">
            <a:extLst xmlns:a="http://schemas.openxmlformats.org/drawingml/2006/main">
              <a:ext uri="{FF2B5EF4-FFF2-40B4-BE49-F238E27FC236}">
                <a16:creationId xmlns:a16="http://schemas.microsoft.com/office/drawing/2014/main" id="{6420DC8F-D7BE-42EF-853E-259BCAF1E122}"/>
              </a:ext>
            </a:extLst>
          </p:cNvPr>
          <p:cNvSpPr>
            <a:spLocks xmlns:a="http://schemas.openxmlformats.org/drawingml/2006/main" noGrp="1"/>
          </p:cNvSpPr>
          <p:nvPr/>
        </p:nvSpPr>
        <p:spPr>
          <a:xfrm xmlns:a="http://schemas.openxmlformats.org/drawingml/2006/main">
            <a:off x="685800" y="16764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536672"/>
                </a:solidFill>
                <a:latin typeface="Helvetica Neue"/>
                <a:ea typeface="Helvetica Neue"/>
                <a:cs typeface="Helvetica Neue"/>
              </a:defRPr>
            </a:pPr>
            <a:r>
              <a:rPr sz="2025" b="0">
                <a:solidFill>
                  <a:srgbClr val="536672"/>
                </a:solidFill>
                <a:latin typeface="Helvetica Neue"/>
                <a:ea typeface="Helvetica Neue"/>
                <a:cs typeface="Helvetica Neue"/>
              </a:rPr>
              <a:t>Each expansion depends on evidence from the step before it</a:t>
            </a:r>
          </a:p>
        </p:txBody>
      </p:sp>
      <p:graphicFrame>
        <p:nvGraphicFramePr>
          <p:cNvPr id="7" name=""/>
          <p:cNvGraphicFramePr/>
          <p:nvPr/>
        </p:nvGraphicFramePr>
        <p:xfrm>
          <a:off xmlns:a="http://schemas.openxmlformats.org/drawingml/2006/main" x="685800" y="2381250"/>
          <a:ext xmlns:a="http://schemas.openxmlformats.org/drawingml/2006/main" cx="10820400" cy="3343275"/>
        </p:xfrm>
        <a:graphic xmlns:a="http://schemas.openxmlformats.org/drawingml/2006/main">
          <a:graphicData uri="http://schemas.openxmlformats.org/drawingml/2006/table">
            <a:tbl>
              <a:tblPr/>
              <a:tblGrid>
                <a:gridCol w="3200400"/>
                <a:gridCol w="3905250"/>
                <a:gridCol w="3714750"/>
              </a:tblGrid>
              <a:tr h="590550">
                <a:tc>
                  <a:txBody>
                    <a:bodyPr/>
                    <a:lstStyle/>
                    <a:p>
                      <a:r>
                        <a:rPr sz="1650" b="1">
                          <a:solidFill>
                            <a:srgbClr val="FFFFFF"/>
                          </a:solidFill>
                          <a:latin typeface="Helvetica Neue"/>
                          <a:ea typeface="Helvetica Neue"/>
                          <a:cs typeface="Helvetica Neue"/>
                        </a:rPr>
                        <a:t>Stage</a:t>
                      </a:r>
                    </a:p>
                  </a:txBody>
                  <a:tcPr marL="161925" marR="161925" marT="76200" marB="76200" anchor="ctr">
                    <a:solidFill>
                      <a:srgbClr val="142C38"/>
                    </a:solidFill>
                  </a:tcPr>
                </a:tc>
                <a:tc>
                  <a:txBody>
                    <a:bodyPr/>
                    <a:lstStyle/>
                    <a:p>
                      <a:r>
                        <a:rPr sz="1650" b="1">
                          <a:solidFill>
                            <a:srgbClr val="FFFFFF"/>
                          </a:solidFill>
                          <a:latin typeface="Helvetica Neue"/>
                          <a:ea typeface="Helvetica Neue"/>
                          <a:cs typeface="Helvetica Neue"/>
                        </a:rPr>
                        <a:t>Outcome to deliver</a:t>
                      </a:r>
                    </a:p>
                  </a:txBody>
                  <a:tcPr marL="161925" marR="161925" marT="76200" marB="76200" anchor="ctr">
                    <a:solidFill>
                      <a:srgbClr val="142C38"/>
                    </a:solidFill>
                  </a:tcPr>
                </a:tc>
                <a:tc>
                  <a:txBody>
                    <a:bodyPr/>
                    <a:lstStyle/>
                    <a:p>
                      <a:r>
                        <a:rPr sz="1650" b="1">
                          <a:solidFill>
                            <a:srgbClr val="FFFFFF"/>
                          </a:solidFill>
                          <a:latin typeface="Helvetica Neue"/>
                          <a:ea typeface="Helvetica Neue"/>
                          <a:cs typeface="Helvetica Neue"/>
                        </a:rPr>
                        <a:t>Gate before moving on</a:t>
                      </a:r>
                    </a:p>
                  </a:txBody>
                  <a:tcPr marL="161925" marR="161925" marT="76200" marB="76200" anchor="ctr">
                    <a:solidFill>
                      <a:srgbClr val="142C38"/>
                    </a:solidFill>
                  </a:tcPr>
                </a:tc>
              </a:tr>
              <a:tr h="688181">
                <a:tc>
                  <a:txBody>
                    <a:bodyPr/>
                    <a:lstStyle/>
                    <a:p>
                      <a:r>
                        <a:rPr sz="1800" b="1">
                          <a:solidFill>
                            <a:srgbClr val="142C38"/>
                          </a:solidFill>
                          <a:latin typeface="Helvetica Neue"/>
                          <a:ea typeface="Helvetica Neue"/>
                          <a:cs typeface="Helvetica Neue"/>
                        </a:rPr>
                        <a:t>Now: finish Wave 3</a:t>
                      </a:r>
                    </a:p>
                  </a:txBody>
                  <a:tcPr marL="161925" marR="161925" marT="76200" marB="76200" anchor="ctr">
                    <a:solidFill>
                      <a:srgbClr val="FFFFFF"/>
                    </a:solidFill>
                  </a:tcPr>
                </a:tc>
                <a:tc>
                  <a:txBody>
                    <a:bodyPr/>
                    <a:lstStyle/>
                    <a:p>
                      <a:r>
                        <a:rPr sz="1800" b="0">
                          <a:solidFill>
                            <a:srgbClr val="142C38"/>
                          </a:solidFill>
                          <a:latin typeface="Helvetica Neue"/>
                          <a:ea typeface="Helvetica Neue"/>
                          <a:cs typeface="Helvetica Neue"/>
                        </a:rPr>
                        <a:t>Know exactly what work finished</a:t>
                      </a:r>
                    </a:p>
                  </a:txBody>
                  <a:tcPr marL="161925" marR="161925" marT="76200" marB="76200" anchor="ctr">
                    <a:solidFill>
                      <a:srgbClr val="FFFFFF"/>
                    </a:solidFill>
                  </a:tcPr>
                </a:tc>
                <a:tc>
                  <a:txBody>
                    <a:bodyPr/>
                    <a:lstStyle/>
                    <a:p>
                      <a:r>
                        <a:rPr sz="1800" b="0">
                          <a:solidFill>
                            <a:srgbClr val="142C38"/>
                          </a:solidFill>
                          <a:latin typeface="Helvetica Neue"/>
                          <a:ea typeface="Helvetica Neue"/>
                          <a:cs typeface="Helvetica Neue"/>
                        </a:rPr>
                        <a:t>Copy cleanup and exact captured output</a:t>
                      </a:r>
                    </a:p>
                  </a:txBody>
                  <a:tcPr marL="161925" marR="161925" marT="76200" marB="76200" anchor="ctr">
                    <a:solidFill>
                      <a:srgbClr val="FFFFFF"/>
                    </a:solidFill>
                  </a:tcPr>
                </a:tc>
              </a:tr>
              <a:tr h="688181">
                <a:tc>
                  <a:txBody>
                    <a:bodyPr/>
                    <a:lstStyle/>
                    <a:p>
                      <a:r>
                        <a:rPr sz="1800" b="1">
                          <a:solidFill>
                            <a:srgbClr val="142C38"/>
                          </a:solidFill>
                          <a:latin typeface="Helvetica Neue"/>
                          <a:ea typeface="Helvetica Neue"/>
                          <a:cs typeface="Helvetica Neue"/>
                        </a:rPr>
                        <a:t>Waves 4–5</a:t>
                      </a:r>
                    </a:p>
                  </a:txBody>
                  <a:tcPr marL="161925" marR="161925" marT="76200" marB="76200" anchor="ctr">
                    <a:solidFill>
                      <a:srgbClr val="F5F4EF"/>
                    </a:solidFill>
                  </a:tcPr>
                </a:tc>
                <a:tc>
                  <a:txBody>
                    <a:bodyPr/>
                    <a:lstStyle/>
                    <a:p>
                      <a:r>
                        <a:rPr sz="1800" b="0">
                          <a:solidFill>
                            <a:srgbClr val="142C38"/>
                          </a:solidFill>
                          <a:latin typeface="Helvetica Neue"/>
                          <a:ea typeface="Helvetica Neue"/>
                          <a:cs typeface="Helvetica Neue"/>
                        </a:rPr>
                        <a:t>Verify useful work across two tools</a:t>
                      </a:r>
                    </a:p>
                  </a:txBody>
                  <a:tcPr marL="161925" marR="161925" marT="76200" marB="76200" anchor="ctr">
                    <a:solidFill>
                      <a:srgbClr val="F5F4EF"/>
                    </a:solidFill>
                  </a:tcPr>
                </a:tc>
                <a:tc>
                  <a:txBody>
                    <a:bodyPr/>
                    <a:lstStyle/>
                    <a:p>
                      <a:r>
                        <a:rPr sz="1800" b="0">
                          <a:solidFill>
                            <a:srgbClr val="142C38"/>
                          </a:solidFill>
                          <a:latin typeface="Helvetica Neue"/>
                          <a:ea typeface="Helvetica Neue"/>
                          <a:cs typeface="Helvetica Neue"/>
                        </a:rPr>
                        <a:t>Fresh reviewed tasks and reusable integration</a:t>
                      </a:r>
                    </a:p>
                  </a:txBody>
                  <a:tcPr marL="161925" marR="161925" marT="76200" marB="76200" anchor="ctr">
                    <a:solidFill>
                      <a:srgbClr val="F5F4EF"/>
                    </a:solidFill>
                  </a:tcPr>
                </a:tc>
              </a:tr>
              <a:tr h="688181">
                <a:tc>
                  <a:txBody>
                    <a:bodyPr/>
                    <a:lstStyle/>
                    <a:p>
                      <a:r>
                        <a:rPr sz="1800" b="1">
                          <a:solidFill>
                            <a:srgbClr val="142C38"/>
                          </a:solidFill>
                          <a:latin typeface="Helvetica Neue"/>
                          <a:ea typeface="Helvetica Neue"/>
                          <a:cs typeface="Helvetica Neue"/>
                        </a:rPr>
                        <a:t>Waves 6–8</a:t>
                      </a:r>
                    </a:p>
                  </a:txBody>
                  <a:tcPr marL="161925" marR="161925" marT="76200" marB="76200" anchor="ctr">
                    <a:solidFill>
                      <a:srgbClr val="FFFFFF"/>
                    </a:solidFill>
                  </a:tcPr>
                </a:tc>
                <a:tc>
                  <a:txBody>
                    <a:bodyPr/>
                    <a:lstStyle/>
                    <a:p>
                      <a:r>
                        <a:rPr sz="1800" b="0">
                          <a:solidFill>
                            <a:srgbClr val="142C38"/>
                          </a:solidFill>
                          <a:latin typeface="Helvetica Neue"/>
                          <a:ea typeface="Helvetica Neue"/>
                          <a:cs typeface="Helvetica Neue"/>
                        </a:rPr>
                        <a:t>Test control and release a supported product</a:t>
                      </a:r>
                    </a:p>
                  </a:txBody>
                  <a:tcPr marL="161925" marR="161925" marT="76200" marB="76200" anchor="ctr">
                    <a:solidFill>
                      <a:srgbClr val="FFFFFF"/>
                    </a:solidFill>
                  </a:tcPr>
                </a:tc>
                <a:tc>
                  <a:txBody>
                    <a:bodyPr/>
                    <a:lstStyle/>
                    <a:p>
                      <a:r>
                        <a:rPr sz="1800" b="0">
                          <a:solidFill>
                            <a:srgbClr val="142C38"/>
                          </a:solidFill>
                          <a:latin typeface="Helvetica Neue"/>
                          <a:ea typeface="Helvetica Neue"/>
                          <a:cs typeface="Helvetica Neue"/>
                        </a:rPr>
                        <a:t>Enforcement, measured value and recovery</a:t>
                      </a:r>
                    </a:p>
                  </a:txBody>
                  <a:tcPr marL="161925" marR="161925" marT="76200" marB="76200" anchor="ctr">
                    <a:solidFill>
                      <a:srgbClr val="FFFFFF"/>
                    </a:solidFill>
                  </a:tcPr>
                </a:tc>
              </a:tr>
              <a:tr h="688181">
                <a:tc>
                  <a:txBody>
                    <a:bodyPr/>
                    <a:lstStyle/>
                    <a:p>
                      <a:r>
                        <a:rPr sz="1800" b="1">
                          <a:solidFill>
                            <a:srgbClr val="142C38"/>
                          </a:solidFill>
                          <a:latin typeface="Helvetica Neue"/>
                          <a:ea typeface="Helvetica Neue"/>
                          <a:cs typeface="Helvetica Neue"/>
                        </a:rPr>
                        <a:t>Later: Waves 9–12</a:t>
                      </a:r>
                    </a:p>
                  </a:txBody>
                  <a:tcPr marL="161925" marR="161925" marT="76200" marB="76200" anchor="ctr">
                    <a:solidFill>
                      <a:srgbClr val="F5F4EF"/>
                    </a:solidFill>
                  </a:tcPr>
                </a:tc>
                <a:tc>
                  <a:txBody>
                    <a:bodyPr/>
                    <a:lstStyle/>
                    <a:p>
                      <a:r>
                        <a:rPr sz="1800" b="0">
                          <a:solidFill>
                            <a:srgbClr val="142C38"/>
                          </a:solidFill>
                          <a:latin typeface="Helvetica Neue"/>
                          <a:ea typeface="Helvetica Neue"/>
                          <a:cs typeface="Helvetica Neue"/>
                        </a:rPr>
                        <a:t>Learn and propose improvements</a:t>
                      </a:r>
                    </a:p>
                  </a:txBody>
                  <a:tcPr marL="161925" marR="161925" marT="76200" marB="76200" anchor="ctr">
                    <a:solidFill>
                      <a:srgbClr val="F5F4EF"/>
                    </a:solidFill>
                  </a:tcPr>
                </a:tc>
                <a:tc>
                  <a:txBody>
                    <a:bodyPr/>
                    <a:lstStyle/>
                    <a:p>
                      <a:r>
                        <a:rPr sz="1800" b="0">
                          <a:solidFill>
                            <a:srgbClr val="142C38"/>
                          </a:solidFill>
                          <a:latin typeface="Helvetica Neue"/>
                          <a:ea typeface="Helvetica Neue"/>
                          <a:cs typeface="Helvetica Neue"/>
                        </a:rPr>
                        <a:t>Trusted data, independent tests and approval</a:t>
                      </a:r>
                    </a:p>
                  </a:txBody>
                  <a:tcPr marL="161925" marR="161925" marT="76200" marB="76200" anchor="ctr">
                    <a:solidFill>
                      <a:srgbClr val="F5F4EF"/>
                    </a:solidFill>
                  </a:tcPr>
                </a:tc>
              </a:tr>
            </a:tbl>
          </a:graphicData>
        </a:graphic>
      </p:graphicFrame>
      <p:sp>
        <p:nvSpPr>
          <p:cNvPr id="4" name="">
            <a:extLst xmlns:a="http://schemas.openxmlformats.org/drawingml/2006/main">
              <a:ext uri="{FF2B5EF4-FFF2-40B4-BE49-F238E27FC236}">
                <a16:creationId xmlns:a16="http://schemas.microsoft.com/office/drawing/2014/main" id="{C4EF1AB0-7952-4CA2-9B02-43FFC07FB605}"/>
              </a:ext>
            </a:extLst>
          </p:cNvPr>
          <p:cNvSpPr>
            <a:spLocks xmlns:a="http://schemas.openxmlformats.org/drawingml/2006/main" noGrp="1"/>
          </p:cNvSpPr>
          <p:nvPr/>
        </p:nvSpPr>
        <p:spPr>
          <a:xfrm xmlns:a="http://schemas.openxmlformats.org/drawingml/2006/main">
            <a:off x="685800" y="62579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36672"/>
                </a:solidFill>
                <a:latin typeface="Helvetica Neue"/>
                <a:ea typeface="Helvetica Neue"/>
                <a:cs typeface="Helvetica Neue"/>
              </a:defRPr>
            </a:pPr>
            <a:r>
              <a:rPr sz="1425" b="0">
                <a:solidFill>
                  <a:srgbClr val="536672"/>
                </a:solidFill>
                <a:latin typeface="Helvetica Neue"/>
                <a:ea typeface="Helvetica Neue"/>
                <a:cs typeface="Helvetica Neue"/>
              </a:rPr>
              <a:t>These are evidence gates, not committed delivery dates.</a:t>
            </a:r>
          </a:p>
        </p:txBody>
      </p:sp>
    </p:spTree>
    <p:extLst>
      <p:ext uri="{BB962C8B-B14F-4D97-AF65-F5344CB8AC3E}">
        <p14:creationId xmlns:p14="http://schemas.microsoft.com/office/powerpoint/2010/main" val="1002198532"/>
      </p:ext>
    </p:extLst>
  </p:cSld>
</p:sld>
</file>

<file path=ppt/slides/slide1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F9F8039-8652-47E9-9C1E-0A8BF8694C89}"/>
              </a:ext>
            </a:extLst>
          </p:cNvPr>
          <p:cNvSpPr>
            <a:spLocks xmlns:a="http://schemas.openxmlformats.org/drawingml/2006/main" noGrp="1"/>
          </p:cNvSpPr>
          <p:nvPr/>
        </p:nvSpPr>
        <p:spPr>
          <a:xfrm xmlns:a="http://schemas.openxmlformats.org/drawingml/2006/main">
            <a:off x="666750" y="504825"/>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38"/>
                </a:solidFill>
                <a:latin typeface="Helvetica Neue"/>
                <a:ea typeface="Helvetica Neue"/>
                <a:cs typeface="Helvetica Neue"/>
              </a:defRPr>
            </a:pPr>
            <a:r>
              <a:rPr sz="3450" b="1">
                <a:solidFill>
                  <a:srgbClr val="142C38"/>
                </a:solidFill>
                <a:latin typeface="Helvetica Neue"/>
                <a:ea typeface="Helvetica Neue"/>
                <a:cs typeface="Helvetica Neue"/>
              </a:rPr>
              <a:t>Adaptive improvement with clear authority</a:t>
            </a:r>
          </a:p>
        </p:txBody>
      </p:sp>
      <p:sp>
        <p:nvSpPr>
          <p:cNvPr id="2" name="">
            <a:extLst xmlns:a="http://schemas.openxmlformats.org/drawingml/2006/main">
              <a:ext uri="{FF2B5EF4-FFF2-40B4-BE49-F238E27FC236}">
                <a16:creationId xmlns:a16="http://schemas.microsoft.com/office/drawing/2014/main" id="{57011EB0-F195-4E8F-8873-CA2A332E28C8}"/>
              </a:ext>
            </a:extLst>
          </p:cNvPr>
          <p:cNvSpPr>
            <a:spLocks xmlns:a="http://schemas.openxmlformats.org/drawingml/2006/main" noGrp="1"/>
          </p:cNvSpPr>
          <p:nvPr/>
        </p:nvSpPr>
        <p:spPr>
          <a:xfrm xmlns:a="http://schemas.openxmlformats.org/drawingml/2006/main">
            <a:off x="685800" y="16764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536672"/>
                </a:solidFill>
                <a:latin typeface="Helvetica Neue"/>
                <a:ea typeface="Helvetica Neue"/>
                <a:cs typeface="Helvetica Neue"/>
              </a:defRPr>
            </a:pPr>
            <a:r>
              <a:rPr sz="2025" b="0">
                <a:solidFill>
                  <a:srgbClr val="536672"/>
                </a:solidFill>
                <a:latin typeface="Helvetica Neue"/>
                <a:ea typeface="Helvetica Neue"/>
                <a:cs typeface="Helvetica Neue"/>
              </a:rPr>
              <a:t>Today’s learning is a disciplined engineering process</a:t>
            </a:r>
          </a:p>
        </p:txBody>
      </p:sp>
      <p:sp>
        <p:nvSpPr>
          <p:cNvPr id="3" name="">
            <a:extLst xmlns:a="http://schemas.openxmlformats.org/drawingml/2006/main">
              <a:ext uri="{FF2B5EF4-FFF2-40B4-BE49-F238E27FC236}">
                <a16:creationId xmlns:a16="http://schemas.microsoft.com/office/drawing/2014/main" id="{1446C5E3-0454-4C5A-A65B-3FA2C78F478F}"/>
              </a:ext>
            </a:extLst>
          </p:cNvPr>
          <p:cNvSpPr>
            <a:spLocks xmlns:a="http://schemas.openxmlformats.org/drawingml/2006/main" noGrp="1"/>
          </p:cNvSpPr>
          <p:nvPr/>
        </p:nvSpPr>
        <p:spPr>
          <a:xfrm xmlns:a="http://schemas.openxmlformats.org/drawingml/2006/main">
            <a:off x="704850" y="273367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087E80"/>
                </a:solidFill>
                <a:latin typeface="Helvetica Neue"/>
                <a:ea typeface="Helvetica Neue"/>
                <a:cs typeface="Helvetica Neue"/>
              </a:defRPr>
            </a:pPr>
            <a:r>
              <a:rPr sz="3300" b="1">
                <a:solidFill>
                  <a:srgbClr val="087E80"/>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DF606B97-98DF-4A4A-90A8-3FDB22ABC939}"/>
              </a:ext>
            </a:extLst>
          </p:cNvPr>
          <p:cNvSpPr>
            <a:spLocks xmlns:a="http://schemas.openxmlformats.org/drawingml/2006/main" noGrp="1"/>
          </p:cNvSpPr>
          <p:nvPr/>
        </p:nvSpPr>
        <p:spPr>
          <a:xfrm xmlns:a="http://schemas.openxmlformats.org/drawingml/2006/main">
            <a:off x="1962150" y="270510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142C38"/>
                </a:solidFill>
                <a:latin typeface="Helvetica Neue"/>
                <a:ea typeface="Helvetica Neue"/>
                <a:cs typeface="Helvetica Neue"/>
              </a:defRPr>
            </a:pPr>
            <a:r>
              <a:rPr sz="2550" b="0">
                <a:solidFill>
                  <a:srgbClr val="142C38"/>
                </a:solidFill>
                <a:latin typeface="Helvetica Neue"/>
                <a:ea typeface="Helvetica Neue"/>
                <a:cs typeface="Helvetica Neue"/>
              </a:rPr>
              <a:t>Keep the failure evidence</a:t>
            </a:r>
          </a:p>
        </p:txBody>
      </p:sp>
      <p:sp>
        <p:nvSpPr>
          <p:cNvPr id="5" name="">
            <a:extLst xmlns:a="http://schemas.openxmlformats.org/drawingml/2006/main">
              <a:ext uri="{FF2B5EF4-FFF2-40B4-BE49-F238E27FC236}">
                <a16:creationId xmlns:a16="http://schemas.microsoft.com/office/drawing/2014/main" id="{018D4B74-590E-4761-9E87-549D21E9087E}"/>
              </a:ext>
            </a:extLst>
          </p:cNvPr>
          <p:cNvSpPr>
            <a:spLocks xmlns:a="http://schemas.openxmlformats.org/drawingml/2006/main" noGrp="1"/>
          </p:cNvSpPr>
          <p:nvPr/>
        </p:nvSpPr>
        <p:spPr>
          <a:xfrm xmlns:a="http://schemas.openxmlformats.org/drawingml/2006/main">
            <a:off x="704850" y="3543300"/>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087E80"/>
                </a:solidFill>
                <a:latin typeface="Helvetica Neue"/>
                <a:ea typeface="Helvetica Neue"/>
                <a:cs typeface="Helvetica Neue"/>
              </a:defRPr>
            </a:pPr>
            <a:r>
              <a:rPr sz="3300" b="1">
                <a:solidFill>
                  <a:srgbClr val="087E80"/>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9D7988D6-ACFF-40D8-A261-0F92CDF20BEB}"/>
              </a:ext>
            </a:extLst>
          </p:cNvPr>
          <p:cNvSpPr>
            <a:spLocks xmlns:a="http://schemas.openxmlformats.org/drawingml/2006/main" noGrp="1"/>
          </p:cNvSpPr>
          <p:nvPr/>
        </p:nvSpPr>
        <p:spPr>
          <a:xfrm xmlns:a="http://schemas.openxmlformats.org/drawingml/2006/main">
            <a:off x="1962150" y="3514725"/>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142C38"/>
                </a:solidFill>
                <a:latin typeface="Helvetica Neue"/>
                <a:ea typeface="Helvetica Neue"/>
                <a:cs typeface="Helvetica Neue"/>
              </a:defRPr>
            </a:pPr>
            <a:r>
              <a:rPr sz="2550" b="0">
                <a:solidFill>
                  <a:srgbClr val="142C38"/>
                </a:solidFill>
                <a:latin typeface="Helvetica Neue"/>
                <a:ea typeface="Helvetica Neue"/>
                <a:cs typeface="Helvetica Neue"/>
              </a:rPr>
              <a:t>Propose a bounded change</a:t>
            </a:r>
          </a:p>
        </p:txBody>
      </p:sp>
      <p:sp>
        <p:nvSpPr>
          <p:cNvPr id="7" name="">
            <a:extLst xmlns:a="http://schemas.openxmlformats.org/drawingml/2006/main">
              <a:ext uri="{FF2B5EF4-FFF2-40B4-BE49-F238E27FC236}">
                <a16:creationId xmlns:a16="http://schemas.microsoft.com/office/drawing/2014/main" id="{BDD006C0-3025-4BFD-B91C-E3644EB0A5C8}"/>
              </a:ext>
            </a:extLst>
          </p:cNvPr>
          <p:cNvSpPr>
            <a:spLocks xmlns:a="http://schemas.openxmlformats.org/drawingml/2006/main" noGrp="1"/>
          </p:cNvSpPr>
          <p:nvPr/>
        </p:nvSpPr>
        <p:spPr>
          <a:xfrm xmlns:a="http://schemas.openxmlformats.org/drawingml/2006/main">
            <a:off x="704850" y="435292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087E80"/>
                </a:solidFill>
                <a:latin typeface="Helvetica Neue"/>
                <a:ea typeface="Helvetica Neue"/>
                <a:cs typeface="Helvetica Neue"/>
              </a:defRPr>
            </a:pPr>
            <a:r>
              <a:rPr sz="3300" b="1">
                <a:solidFill>
                  <a:srgbClr val="087E80"/>
                </a:solidFill>
                <a:latin typeface="Helvetica Neue"/>
                <a:ea typeface="Helvetica Neue"/>
                <a:cs typeface="Helvetica Neue"/>
              </a:rPr>
              <a:t>03</a:t>
            </a:r>
          </a:p>
        </p:txBody>
      </p:sp>
      <p:sp>
        <p:nvSpPr>
          <p:cNvPr id="8" name="">
            <a:extLst xmlns:a="http://schemas.openxmlformats.org/drawingml/2006/main">
              <a:ext uri="{FF2B5EF4-FFF2-40B4-BE49-F238E27FC236}">
                <a16:creationId xmlns:a16="http://schemas.microsoft.com/office/drawing/2014/main" id="{23C21319-4D17-44FC-8B0E-C9BCAD32B766}"/>
              </a:ext>
            </a:extLst>
          </p:cNvPr>
          <p:cNvSpPr>
            <a:spLocks xmlns:a="http://schemas.openxmlformats.org/drawingml/2006/main" noGrp="1"/>
          </p:cNvSpPr>
          <p:nvPr/>
        </p:nvSpPr>
        <p:spPr>
          <a:xfrm xmlns:a="http://schemas.openxmlformats.org/drawingml/2006/main">
            <a:off x="1962150" y="43243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142C38"/>
                </a:solidFill>
                <a:latin typeface="Helvetica Neue"/>
                <a:ea typeface="Helvetica Neue"/>
                <a:cs typeface="Helvetica Neue"/>
              </a:defRPr>
            </a:pPr>
            <a:r>
              <a:rPr sz="2550" b="0">
                <a:solidFill>
                  <a:srgbClr val="142C38"/>
                </a:solidFill>
                <a:latin typeface="Helvetica Neue"/>
                <a:ea typeface="Helvetica Neue"/>
                <a:cs typeface="Helvetica Neue"/>
              </a:rPr>
              <a:t>Test it and update the decision record</a:t>
            </a:r>
          </a:p>
        </p:txBody>
      </p:sp>
      <p:sp>
        <p:nvSpPr>
          <p:cNvPr id="9" name="">
            <a:extLst xmlns:a="http://schemas.openxmlformats.org/drawingml/2006/main">
              <a:ext uri="{FF2B5EF4-FFF2-40B4-BE49-F238E27FC236}">
                <a16:creationId xmlns:a16="http://schemas.microsoft.com/office/drawing/2014/main" id="{E67ADFF4-6127-4504-A232-95BF9DEC4752}"/>
              </a:ext>
            </a:extLst>
          </p:cNvPr>
          <p:cNvSpPr>
            <a:spLocks xmlns:a="http://schemas.openxmlformats.org/drawingml/2006/main" noGrp="1"/>
          </p:cNvSpPr>
          <p:nvPr/>
        </p:nvSpPr>
        <p:spPr>
          <a:xfrm xmlns:a="http://schemas.openxmlformats.org/drawingml/2006/main">
            <a:off x="704850" y="5162550"/>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087E80"/>
                </a:solidFill>
                <a:latin typeface="Helvetica Neue"/>
                <a:ea typeface="Helvetica Neue"/>
                <a:cs typeface="Helvetica Neue"/>
              </a:defRPr>
            </a:pPr>
            <a:r>
              <a:rPr sz="3300" b="1">
                <a:solidFill>
                  <a:srgbClr val="087E80"/>
                </a:solidFill>
                <a:latin typeface="Helvetica Neue"/>
                <a:ea typeface="Helvetica Neue"/>
                <a:cs typeface="Helvetica Neue"/>
              </a:rPr>
              <a:t>04</a:t>
            </a:r>
          </a:p>
        </p:txBody>
      </p:sp>
      <p:sp>
        <p:nvSpPr>
          <p:cNvPr id="10" name="">
            <a:extLst xmlns:a="http://schemas.openxmlformats.org/drawingml/2006/main">
              <a:ext uri="{FF2B5EF4-FFF2-40B4-BE49-F238E27FC236}">
                <a16:creationId xmlns:a16="http://schemas.microsoft.com/office/drawing/2014/main" id="{513B0A9A-0282-49DC-AEB4-E4866E28F01E}"/>
              </a:ext>
            </a:extLst>
          </p:cNvPr>
          <p:cNvSpPr>
            <a:spLocks xmlns:a="http://schemas.openxmlformats.org/drawingml/2006/main" noGrp="1"/>
          </p:cNvSpPr>
          <p:nvPr/>
        </p:nvSpPr>
        <p:spPr>
          <a:xfrm xmlns:a="http://schemas.openxmlformats.org/drawingml/2006/main">
            <a:off x="1962150" y="5133975"/>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142C38"/>
                </a:solidFill>
                <a:latin typeface="Helvetica Neue"/>
                <a:ea typeface="Helvetica Neue"/>
                <a:cs typeface="Helvetica Neue"/>
              </a:defRPr>
            </a:pPr>
            <a:r>
              <a:rPr sz="2550" b="0">
                <a:solidFill>
                  <a:srgbClr val="142C38"/>
                </a:solidFill>
                <a:latin typeface="Helvetica Neue"/>
                <a:ea typeface="Helvetica Neue"/>
                <a:cs typeface="Helvetica Neue"/>
              </a:rPr>
              <a:t>Require approval before widening authority</a:t>
            </a:r>
          </a:p>
        </p:txBody>
      </p:sp>
      <p:sp>
        <p:nvSpPr>
          <p:cNvPr id="11" name="">
            <a:extLst xmlns:a="http://schemas.openxmlformats.org/drawingml/2006/main">
              <a:ext uri="{FF2B5EF4-FFF2-40B4-BE49-F238E27FC236}">
                <a16:creationId xmlns:a16="http://schemas.microsoft.com/office/drawing/2014/main" id="{2FA94BD8-E1C2-40E4-962F-6ABBE29D483D}"/>
              </a:ext>
            </a:extLst>
          </p:cNvPr>
          <p:cNvSpPr>
            <a:spLocks xmlns:a="http://schemas.openxmlformats.org/drawingml/2006/main" noGrp="1"/>
          </p:cNvSpPr>
          <p:nvPr/>
        </p:nvSpPr>
        <p:spPr>
          <a:xfrm xmlns:a="http://schemas.openxmlformats.org/drawingml/2006/main">
            <a:off x="685800" y="62579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36672"/>
                </a:solidFill>
                <a:latin typeface="Helvetica Neue"/>
                <a:ea typeface="Helvetica Neue"/>
                <a:cs typeface="Helvetica Neue"/>
              </a:defRPr>
            </a:pPr>
            <a:r>
              <a:rPr sz="1425" b="0">
                <a:solidFill>
                  <a:srgbClr val="536672"/>
                </a:solidFill>
                <a:latin typeface="Helvetica Neue"/>
                <a:ea typeface="Helvetica Neue"/>
                <a:cs typeface="Helvetica Neue"/>
              </a:rPr>
              <a:t>Later automation may propose changes. It cannot approve its own wider use.</a:t>
            </a:r>
          </a:p>
        </p:txBody>
      </p:sp>
    </p:spTree>
    <p:extLst>
      <p:ext uri="{BB962C8B-B14F-4D97-AF65-F5344CB8AC3E}">
        <p14:creationId xmlns:p14="http://schemas.microsoft.com/office/powerpoint/2010/main" val="886484450"/>
      </p:ext>
    </p:extLst>
  </p:cSld>
</p:sld>
</file>

<file path=ppt/slides/slide12.xml><?xml version="1.0" encoding="utf-8"?>
<p:sld xmlns:p="http://schemas.openxmlformats.org/presentationml/2006/main">
  <p:cSld>
    <p:bg>
      <p:bgPr>
        <a:solidFill xmlns:a="http://schemas.openxmlformats.org/drawingml/2006/main">
          <a:srgbClr val="142C3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E89A96-65AB-4B03-ABAA-7B791B7C9B9D}"/>
              </a:ext>
            </a:extLst>
          </p:cNvPr>
          <p:cNvSpPr>
            <a:spLocks xmlns:a="http://schemas.openxmlformats.org/drawingml/2006/main" noGrp="1"/>
          </p:cNvSpPr>
          <p:nvPr/>
        </p:nvSpPr>
        <p:spPr>
          <a:xfrm xmlns:a="http://schemas.openxmlformats.org/drawingml/2006/main">
            <a:off x="666750" y="504825"/>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What leadership should expect next</a:t>
            </a:r>
          </a:p>
        </p:txBody>
      </p:sp>
      <p:sp>
        <p:nvSpPr>
          <p:cNvPr id="2" name="">
            <a:extLst xmlns:a="http://schemas.openxmlformats.org/drawingml/2006/main">
              <a:ext uri="{FF2B5EF4-FFF2-40B4-BE49-F238E27FC236}">
                <a16:creationId xmlns:a16="http://schemas.microsoft.com/office/drawing/2014/main" id="{3C0B9D30-C8A7-4A07-8049-1E988FB3EEFE}"/>
              </a:ext>
            </a:extLst>
          </p:cNvPr>
          <p:cNvSpPr>
            <a:spLocks xmlns:a="http://schemas.openxmlformats.org/drawingml/2006/main" noGrp="1"/>
          </p:cNvSpPr>
          <p:nvPr/>
        </p:nvSpPr>
        <p:spPr>
          <a:xfrm xmlns:a="http://schemas.openxmlformats.org/drawingml/2006/main">
            <a:off x="685800" y="16764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DDEBE8"/>
                </a:solidFill>
                <a:latin typeface="Helvetica Neue"/>
                <a:ea typeface="Helvetica Neue"/>
                <a:cs typeface="Helvetica Neue"/>
              </a:defRPr>
            </a:pPr>
            <a:r>
              <a:rPr sz="2025" b="0">
                <a:solidFill>
                  <a:srgbClr val="DDEBE8"/>
                </a:solidFill>
                <a:latin typeface="Helvetica Neue"/>
                <a:ea typeface="Helvetica Neue"/>
                <a:cs typeface="Helvetica Neue"/>
              </a:rPr>
              <a:t>A clearer demonstration of useful, accountable AI work</a:t>
            </a:r>
          </a:p>
        </p:txBody>
      </p:sp>
      <p:sp>
        <p:nvSpPr>
          <p:cNvPr id="3" name="">
            <a:extLst xmlns:a="http://schemas.openxmlformats.org/drawingml/2006/main">
              <a:ext uri="{FF2B5EF4-FFF2-40B4-BE49-F238E27FC236}">
                <a16:creationId xmlns:a16="http://schemas.microsoft.com/office/drawing/2014/main" id="{07ECFD82-06D1-44C4-AAFE-925BBC2241CC}"/>
              </a:ext>
            </a:extLst>
          </p:cNvPr>
          <p:cNvSpPr>
            <a:spLocks xmlns:a="http://schemas.openxmlformats.org/drawingml/2006/main" noGrp="1"/>
          </p:cNvSpPr>
          <p:nvPr/>
        </p:nvSpPr>
        <p:spPr>
          <a:xfrm xmlns:a="http://schemas.openxmlformats.org/drawingml/2006/main">
            <a:off x="714375" y="2714625"/>
            <a:ext cx="10572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925" b="1">
                <a:solidFill>
                  <a:srgbClr val="FFFFFF"/>
                </a:solidFill>
                <a:latin typeface="Helvetica Neue"/>
                <a:ea typeface="Helvetica Neue"/>
                <a:cs typeface="Helvetica Neue"/>
              </a:defRPr>
            </a:pPr>
            <a:r>
              <a:rPr sz="2925" b="1">
                <a:solidFill>
                  <a:srgbClr val="FFFFFF"/>
                </a:solidFill>
                <a:latin typeface="Helvetica Neue"/>
                <a:ea typeface="Helvetica Neue"/>
                <a:cs typeface="Helvetica Neue"/>
              </a:rPr>
              <a:t>A task finishes. Its exact output is preserved.</a:t>
            </a:r>
          </a:p>
          <a:p xmlns:a="http://schemas.openxmlformats.org/drawingml/2006/main">
            <a:pPr>
              <a:defRPr sz="2925" b="1">
                <a:solidFill>
                  <a:srgbClr val="FFFFFF"/>
                </a:solidFill>
                <a:latin typeface="Helvetica Neue"/>
                <a:ea typeface="Helvetica Neue"/>
                <a:cs typeface="Helvetica Neue"/>
              </a:defRPr>
            </a:pPr>
            <a:r>
              <a:rPr sz="2925" b="1">
                <a:solidFill>
                  <a:srgbClr val="FFFFFF"/>
                </a:solidFill>
                <a:latin typeface="Helvetica Neue"/>
                <a:ea typeface="Helvetica Neue"/>
                <a:cs typeface="Helvetica Neue"/>
              </a:rPr>
              <a:t>Separate checks assess that same output.</a:t>
            </a:r>
          </a:p>
        </p:txBody>
      </p:sp>
      <p:sp>
        <p:nvSpPr>
          <p:cNvPr id="4" name="">
            <a:extLst xmlns:a="http://schemas.openxmlformats.org/drawingml/2006/main">
              <a:ext uri="{FF2B5EF4-FFF2-40B4-BE49-F238E27FC236}">
                <a16:creationId xmlns:a16="http://schemas.microsoft.com/office/drawing/2014/main" id="{EFA142CA-8CCD-4D20-834C-949FEA92532D}"/>
              </a:ext>
            </a:extLst>
          </p:cNvPr>
          <p:cNvSpPr>
            <a:spLocks xmlns:a="http://schemas.openxmlformats.org/drawingml/2006/main" noGrp="1"/>
          </p:cNvSpPr>
          <p:nvPr/>
        </p:nvSpPr>
        <p:spPr>
          <a:xfrm xmlns:a="http://schemas.openxmlformats.org/drawingml/2006/main">
            <a:off x="723900" y="4486275"/>
            <a:ext cx="1038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DDEBE8"/>
                </a:solidFill>
                <a:latin typeface="Helvetica Neue"/>
                <a:ea typeface="Helvetica Neue"/>
                <a:cs typeface="Helvetica Neue"/>
              </a:defRPr>
            </a:pPr>
            <a:r>
              <a:rPr sz="2250" b="0">
                <a:solidFill>
                  <a:srgbClr val="DDEBE8"/>
                </a:solidFill>
                <a:latin typeface="Helvetica Neue"/>
                <a:ea typeface="Helvetica Neue"/>
                <a:cs typeface="Helvetica Neue"/>
              </a:rPr>
              <a:t>Then we repeat the workflow with another coding tool</a:t>
            </a:r>
          </a:p>
          <a:p xmlns:a="http://schemas.openxmlformats.org/drawingml/2006/main">
            <a:pPr>
              <a:defRPr sz="2250" b="0">
                <a:solidFill>
                  <a:srgbClr val="DDEBE8"/>
                </a:solidFill>
                <a:latin typeface="Helvetica Neue"/>
                <a:ea typeface="Helvetica Neue"/>
                <a:cs typeface="Helvetica Neue"/>
              </a:defRPr>
            </a:pPr>
            <a:r>
              <a:rPr sz="2250" b="0">
                <a:solidFill>
                  <a:srgbClr val="DDEBE8"/>
                </a:solidFill>
                <a:latin typeface="Helvetica Neue"/>
                <a:ea typeface="Helvetica Neue"/>
                <a:cs typeface="Helvetica Neue"/>
              </a:rPr>
              <a:t>and measure reliability, quality, effort and cost.</a:t>
            </a:r>
          </a:p>
        </p:txBody>
      </p:sp>
      <p:sp>
        <p:nvSpPr>
          <p:cNvPr id="5" name="">
            <a:extLst xmlns:a="http://schemas.openxmlformats.org/drawingml/2006/main">
              <a:ext uri="{FF2B5EF4-FFF2-40B4-BE49-F238E27FC236}">
                <a16:creationId xmlns:a16="http://schemas.microsoft.com/office/drawing/2014/main" id="{DC66967A-9B65-437A-8E42-46956CBB873A}"/>
              </a:ext>
            </a:extLst>
          </p:cNvPr>
          <p:cNvSpPr>
            <a:spLocks xmlns:a="http://schemas.openxmlformats.org/drawingml/2006/main" noGrp="1"/>
          </p:cNvSpPr>
          <p:nvPr/>
        </p:nvSpPr>
        <p:spPr>
          <a:xfrm xmlns:a="http://schemas.openxmlformats.org/drawingml/2006/main">
            <a:off x="685800" y="62579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DDEBE8"/>
                </a:solidFill>
                <a:latin typeface="Helvetica Neue"/>
                <a:ea typeface="Helvetica Neue"/>
                <a:cs typeface="Helvetica Neue"/>
              </a:defRPr>
            </a:pPr>
            <a:r>
              <a:rPr sz="1425" b="0">
                <a:solidFill>
                  <a:srgbClr val="DDEBE8"/>
                </a:solidFill>
                <a:latin typeface="Helvetica Neue"/>
                <a:ea typeface="Helvetica Neue"/>
                <a:cs typeface="Helvetica Neue"/>
              </a:rPr>
              <a:t>No immediate input blocks the next offline work. Reviewer and pilot decisions come before expansion.</a:t>
            </a:r>
          </a:p>
        </p:txBody>
      </p:sp>
    </p:spTree>
    <p:extLst>
      <p:ext uri="{BB962C8B-B14F-4D97-AF65-F5344CB8AC3E}">
        <p14:creationId xmlns:p14="http://schemas.microsoft.com/office/powerpoint/2010/main" val="1591938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2026-09-08T06:08:12.8580000Z</dcterms:created>
  <dcterms:modified xsi:type="dcterms:W3CDTF">2026-09-08T06:08:12.8580000Z</dcterms:modified>
</coreProperties>
</file>